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38"/>
  </p:notesMasterIdLst>
  <p:sldIdLst>
    <p:sldId id="297" r:id="rId2"/>
    <p:sldId id="303" r:id="rId3"/>
    <p:sldId id="304" r:id="rId4"/>
    <p:sldId id="276" r:id="rId5"/>
    <p:sldId id="257" r:id="rId6"/>
    <p:sldId id="305" r:id="rId7"/>
    <p:sldId id="258" r:id="rId8"/>
    <p:sldId id="306" r:id="rId9"/>
    <p:sldId id="280" r:id="rId10"/>
    <p:sldId id="259" r:id="rId11"/>
    <p:sldId id="260" r:id="rId12"/>
    <p:sldId id="263" r:id="rId13"/>
    <p:sldId id="264" r:id="rId14"/>
    <p:sldId id="307" r:id="rId15"/>
    <p:sldId id="266" r:id="rId16"/>
    <p:sldId id="298" r:id="rId17"/>
    <p:sldId id="312" r:id="rId18"/>
    <p:sldId id="292" r:id="rId19"/>
    <p:sldId id="293" r:id="rId20"/>
    <p:sldId id="288" r:id="rId21"/>
    <p:sldId id="289" r:id="rId22"/>
    <p:sldId id="302" r:id="rId23"/>
    <p:sldId id="301" r:id="rId24"/>
    <p:sldId id="300" r:id="rId25"/>
    <p:sldId id="308" r:id="rId26"/>
    <p:sldId id="268" r:id="rId27"/>
    <p:sldId id="269" r:id="rId28"/>
    <p:sldId id="309" r:id="rId29"/>
    <p:sldId id="270" r:id="rId30"/>
    <p:sldId id="275" r:id="rId31"/>
    <p:sldId id="284" r:id="rId32"/>
    <p:sldId id="285" r:id="rId33"/>
    <p:sldId id="311" r:id="rId34"/>
    <p:sldId id="286" r:id="rId35"/>
    <p:sldId id="295" r:id="rId36"/>
    <p:sldId id="290"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Title &amp; Menu" id="{CD580747-76AF-43A8-A0B3-1744F7B9B9A6}">
          <p14:sldIdLst>
            <p14:sldId id="297"/>
            <p14:sldId id="303"/>
          </p14:sldIdLst>
        </p14:section>
        <p14:section name="1. Introduction &amp; Objectives" id="{B9E6EFF5-727C-47CA-BB72-5B103AB3DADA}">
          <p14:sldIdLst>
            <p14:sldId id="304"/>
            <p14:sldId id="276"/>
            <p14:sldId id="257"/>
          </p14:sldIdLst>
        </p14:section>
        <p14:section name="2. Exercise: Hiding Your Identity" id="{C4944EDE-5FA1-43F9-A503-28D9BD85E904}">
          <p14:sldIdLst>
            <p14:sldId id="305"/>
            <p14:sldId id="258"/>
          </p14:sldIdLst>
        </p14:section>
        <p14:section name="3. Why We Need Allies Training" id="{3C46792C-5D06-4547-A033-51175137486E}">
          <p14:sldIdLst>
            <p14:sldId id="306"/>
            <p14:sldId id="280"/>
            <p14:sldId id="259"/>
            <p14:sldId id="260"/>
            <p14:sldId id="263"/>
            <p14:sldId id="264"/>
          </p14:sldIdLst>
        </p14:section>
        <p14:section name="4. Exercise: Terminology" id="{F07AE4BB-7B89-4AD1-AF6C-37FAABD1C690}">
          <p14:sldIdLst>
            <p14:sldId id="307"/>
            <p14:sldId id="266"/>
            <p14:sldId id="298"/>
            <p14:sldId id="312"/>
            <p14:sldId id="292"/>
            <p14:sldId id="293"/>
            <p14:sldId id="288"/>
            <p14:sldId id="289"/>
            <p14:sldId id="302"/>
            <p14:sldId id="301"/>
            <p14:sldId id="300"/>
          </p14:sldIdLst>
        </p14:section>
        <p14:section name="5. Language to Avoid" id="{B52BC655-28BB-4E48-ADB3-9ED0600A7B36}">
          <p14:sldIdLst>
            <p14:sldId id="308"/>
            <p14:sldId id="268"/>
            <p14:sldId id="269"/>
          </p14:sldIdLst>
        </p14:section>
        <p14:section name="6. Ally Best Practice &amp; Scenarios" id="{C2AEDD8E-5B22-42B4-A72D-446B3ADED4ED}">
          <p14:sldIdLst>
            <p14:sldId id="309"/>
            <p14:sldId id="270"/>
            <p14:sldId id="275"/>
            <p14:sldId id="284"/>
            <p14:sldId id="285"/>
          </p14:sldIdLst>
        </p14:section>
        <p14:section name="7. End &amp; Feedback" id="{D7D617F5-DC69-459E-A33F-F8603BD4377D}">
          <p14:sldIdLst>
            <p14:sldId id="311"/>
            <p14:sldId id="286"/>
            <p14:sldId id="295"/>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240" autoAdjust="0"/>
    <p:restoredTop sz="74230" autoAdjust="0"/>
  </p:normalViewPr>
  <p:slideViewPr>
    <p:cSldViewPr snapToGrid="0">
      <p:cViewPr varScale="1">
        <p:scale>
          <a:sx n="47" d="100"/>
          <a:sy n="47" d="100"/>
        </p:scale>
        <p:origin x="1130" y="18"/>
      </p:cViewPr>
      <p:guideLst/>
    </p:cSldViewPr>
  </p:slideViewPr>
  <p:outlineViewPr>
    <p:cViewPr>
      <p:scale>
        <a:sx n="33" d="100"/>
        <a:sy n="33" d="100"/>
      </p:scale>
      <p:origin x="0" y="-220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dirty="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theguardian.com/world/2016/jul/02/male-and-female-what-is-it-like-to-be-intersex" TargetMode="External"/><Relationship Id="rId2" Type="http://schemas.openxmlformats.org/officeDocument/2006/relationships/slide" Target="../slides/slide21.xml"/><Relationship Id="rId1" Type="http://schemas.openxmlformats.org/officeDocument/2006/relationships/notesMaster" Target="../notesMasters/notesMaster1.xml"/><Relationship Id="rId5" Type="http://schemas.openxmlformats.org/officeDocument/2006/relationships/hyperlink" Target="https://www.amnesty.org/en/latest/news/2018/10/its-intersex-awareness-day-here-are-5-myths-we-need-to-shatter/" TargetMode="External"/><Relationship Id="rId4" Type="http://schemas.openxmlformats.org/officeDocument/2006/relationships/hyperlink" Target="https://www.minus18.org.au/index.php/articles/item/2-847-im-intersex-heres-what-that-means" TargetMode="Externa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Important to note that we will be referring to derogatory terms, but only in the context of making it clear what you should</a:t>
            </a:r>
            <a:r>
              <a:rPr lang="en-GB" baseline="0" dirty="0"/>
              <a:t> </a:t>
            </a:r>
            <a:r>
              <a:rPr lang="en-GB" b="1" baseline="0" dirty="0"/>
              <a:t>not</a:t>
            </a:r>
            <a:r>
              <a:rPr lang="en-GB" baseline="0" dirty="0"/>
              <a:t> say.</a:t>
            </a:r>
            <a:endParaRPr lang="en-GB"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25784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 name="Google Shape;9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sz="1200" b="0" i="0" u="none" strike="noStrike" dirty="0">
                <a:solidFill>
                  <a:schemeClr val="dk1"/>
                </a:solidFill>
                <a:latin typeface="Calibri"/>
                <a:ea typeface="Calibri"/>
                <a:cs typeface="Calibri"/>
                <a:sym typeface="Calibri"/>
              </a:rPr>
              <a:t>At the end of the time,</a:t>
            </a:r>
            <a:r>
              <a:rPr lang="en-GB" sz="1200" b="0" i="0" u="none" strike="noStrike" baseline="0" dirty="0">
                <a:solidFill>
                  <a:schemeClr val="dk1"/>
                </a:solidFill>
                <a:latin typeface="Calibri"/>
                <a:ea typeface="Calibri"/>
                <a:cs typeface="Calibri"/>
                <a:sym typeface="Calibri"/>
              </a:rPr>
              <a:t> ask the group what they thought the exercise was for.</a:t>
            </a:r>
            <a:br>
              <a:rPr lang="en-GB" sz="1200" b="0" i="0" u="none" strike="noStrike" dirty="0">
                <a:solidFill>
                  <a:schemeClr val="dk1"/>
                </a:solidFill>
                <a:latin typeface="Calibri"/>
                <a:ea typeface="Calibri"/>
                <a:cs typeface="Calibri"/>
                <a:sym typeface="Calibri"/>
              </a:rPr>
            </a:br>
            <a:r>
              <a:rPr lang="en-GB" sz="1200" b="0" i="0" u="none" strike="noStrike" dirty="0">
                <a:solidFill>
                  <a:schemeClr val="dk1"/>
                </a:solidFill>
                <a:latin typeface="Calibri"/>
                <a:ea typeface="Calibri"/>
                <a:cs typeface="Calibri"/>
                <a:sym typeface="Calibri"/>
              </a:rPr>
              <a:t>Key idea:</a:t>
            </a:r>
            <a:endParaRPr dirty="0"/>
          </a:p>
          <a:p>
            <a:pPr marL="171450" lvl="0" indent="-171450" algn="l" rtl="0">
              <a:spcBef>
                <a:spcPts val="0"/>
              </a:spcBef>
              <a:spcAft>
                <a:spcPts val="0"/>
              </a:spcAft>
              <a:buFont typeface="Arial" panose="020B0604020202020204" pitchFamily="34" charset="0"/>
              <a:buChar char="•"/>
            </a:pPr>
            <a:r>
              <a:rPr lang="en-GB" sz="1200" b="0" i="0" u="none" strike="noStrike" dirty="0">
                <a:solidFill>
                  <a:schemeClr val="dk1"/>
                </a:solidFill>
                <a:latin typeface="Calibri"/>
                <a:ea typeface="Calibri"/>
                <a:cs typeface="Calibri"/>
                <a:sym typeface="Calibri"/>
              </a:rPr>
              <a:t>Every lesbian, gay or bisexual person has to make a conscious decision about whether they will be open about their sexual orientation at work. However, it’s not simply a case of coming out once. Gay people have to decide to come out every time they meet new colleagues, clients, suppliers or stakeholders.</a:t>
            </a:r>
            <a:endParaRPr sz="1200" b="0" i="0" u="none" strike="noStrike" dirty="0">
              <a:solidFill>
                <a:schemeClr val="dk1"/>
              </a:solidFill>
              <a:latin typeface="Calibri"/>
              <a:ea typeface="Calibri"/>
              <a:cs typeface="Calibri"/>
              <a:sym typeface="Calibri"/>
            </a:endParaRPr>
          </a:p>
          <a:p>
            <a:pPr marL="171450" lvl="0" indent="-171450" algn="l" rtl="0">
              <a:spcBef>
                <a:spcPts val="0"/>
              </a:spcBef>
              <a:spcAft>
                <a:spcPts val="0"/>
              </a:spcAft>
              <a:buFont typeface="Arial" panose="020B0604020202020204" pitchFamily="34" charset="0"/>
              <a:buChar char="•"/>
            </a:pPr>
            <a:r>
              <a:rPr lang="en-GB" sz="1200" b="0" i="0" u="none" strike="noStrike" dirty="0">
                <a:solidFill>
                  <a:schemeClr val="dk1"/>
                </a:solidFill>
                <a:latin typeface="Calibri"/>
                <a:ea typeface="Calibri"/>
                <a:cs typeface="Calibri"/>
                <a:sym typeface="Calibri"/>
              </a:rPr>
              <a:t>Lesbian, gay and bisexual people who do not feel able to be out at work often expend significant amounts of energy on avoiding being outed, energy that could be spent on performing more effectively in their job.</a:t>
            </a:r>
            <a:endParaRPr dirty="0"/>
          </a:p>
        </p:txBody>
      </p:sp>
      <p:sp>
        <p:nvSpPr>
          <p:cNvPr id="99" name="Google Shape;9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7</a:t>
            </a:fld>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GB" dirty="0"/>
              <a:t>Key information to emphasise:</a:t>
            </a:r>
            <a:endParaRPr dirty="0"/>
          </a:p>
          <a:p>
            <a:pPr marL="171450" lvl="0" indent="-171450" algn="l" rtl="0">
              <a:spcBef>
                <a:spcPts val="0"/>
              </a:spcBef>
              <a:spcAft>
                <a:spcPts val="0"/>
              </a:spcAft>
              <a:buClr>
                <a:schemeClr val="dk1"/>
              </a:buClr>
              <a:buSzPts val="1200"/>
              <a:buFont typeface="Calibri"/>
              <a:buChar char="-"/>
            </a:pPr>
            <a:r>
              <a:rPr lang="en-GB" dirty="0"/>
              <a:t>Gay sex was criminalised until 1967.</a:t>
            </a:r>
            <a:endParaRPr dirty="0"/>
          </a:p>
          <a:p>
            <a:pPr marL="171450" lvl="0" indent="-171450" algn="l" rtl="0">
              <a:spcBef>
                <a:spcPts val="0"/>
              </a:spcBef>
              <a:spcAft>
                <a:spcPts val="0"/>
              </a:spcAft>
              <a:buClr>
                <a:schemeClr val="dk1"/>
              </a:buClr>
              <a:buSzPts val="1200"/>
              <a:buFont typeface="Calibri"/>
              <a:buChar char="-"/>
            </a:pPr>
            <a:r>
              <a:rPr lang="en-GB" dirty="0"/>
              <a:t>Section 28 legislation from 1988 onwards meant that teachers couldn’t talk about same-sex relationships with their students or tackle any sort of homophobic bullying.</a:t>
            </a:r>
            <a:endParaRPr dirty="0"/>
          </a:p>
          <a:p>
            <a:pPr marL="171450" lvl="0" indent="-171450" algn="l" rtl="0">
              <a:spcBef>
                <a:spcPts val="0"/>
              </a:spcBef>
              <a:spcAft>
                <a:spcPts val="0"/>
              </a:spcAft>
              <a:buClr>
                <a:schemeClr val="dk1"/>
              </a:buClr>
              <a:buSzPts val="1200"/>
              <a:buFont typeface="Calibri"/>
              <a:buChar char="-"/>
            </a:pPr>
            <a:r>
              <a:rPr lang="en-GB" dirty="0"/>
              <a:t>The WHO classified homosexuality as a mental illness until 1992.</a:t>
            </a:r>
            <a:endParaRPr dirty="0"/>
          </a:p>
          <a:p>
            <a:pPr marL="171450" lvl="0" indent="-171450" algn="l" rtl="0">
              <a:spcBef>
                <a:spcPts val="0"/>
              </a:spcBef>
              <a:spcAft>
                <a:spcPts val="0"/>
              </a:spcAft>
              <a:buClr>
                <a:schemeClr val="dk1"/>
              </a:buClr>
              <a:buSzPts val="1200"/>
              <a:buFont typeface="Calibri"/>
              <a:buChar char="-"/>
            </a:pPr>
            <a:r>
              <a:rPr lang="en-GB" dirty="0"/>
              <a:t>You could be fired for being LGBT+ until 2003.</a:t>
            </a:r>
            <a:endParaRPr dirty="0"/>
          </a:p>
          <a:p>
            <a:pPr marL="171450" lvl="0" indent="-171450" algn="l" rtl="0">
              <a:spcBef>
                <a:spcPts val="0"/>
              </a:spcBef>
              <a:spcAft>
                <a:spcPts val="0"/>
              </a:spcAft>
              <a:buClr>
                <a:schemeClr val="dk1"/>
              </a:buClr>
              <a:buSzPts val="1200"/>
              <a:buFont typeface="Calibri"/>
              <a:buChar char="-"/>
            </a:pPr>
            <a:r>
              <a:rPr lang="en-GB" dirty="0"/>
              <a:t>Trans people must currently provide medical evidence to be able to be legally recognised in their preferred gender.</a:t>
            </a:r>
            <a:endParaRPr dirty="0"/>
          </a:p>
          <a:p>
            <a:pPr marL="171450" lvl="0" indent="-171450" algn="l" rtl="0">
              <a:spcBef>
                <a:spcPts val="0"/>
              </a:spcBef>
              <a:spcAft>
                <a:spcPts val="0"/>
              </a:spcAft>
              <a:buClr>
                <a:schemeClr val="dk1"/>
              </a:buClr>
              <a:buSzPts val="1200"/>
              <a:buFont typeface="Calibri"/>
              <a:buChar char="-"/>
            </a:pPr>
            <a:r>
              <a:rPr lang="en-GB" dirty="0"/>
              <a:t>There is currently no legal recognition of non-binary people.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All information taken from Stonewall.</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1967: The Sexual Offences Act 1967 decriminalises sex between two men over 21 and ‘in private’. It did not extend to Scotland, Northern Ireland, the Channel Islands or the Isle of Man.</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1969: The Stonewall riots in America – a series of spontaneous, violent demonstrations by members of the LGBT+ community against a police raid on the Stonewall Inn, NYC. This key event triggers the modern LGBT+ liberation movement in America and beyond.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1988: Margaret Thatcher introduces Section 28, which states that a local authority ‘shall not intentionally promote homosexuality or publish material with the intention of promoting homosexuality’ or ‘promote the teaching in any maintained school of the acceptability of homosexuality as a pretended family relationship’.</a:t>
            </a:r>
            <a:endParaRPr dirty="0"/>
          </a:p>
          <a:p>
            <a:pPr marL="0" lvl="0" indent="0" algn="l" rtl="0">
              <a:spcBef>
                <a:spcPts val="0"/>
              </a:spcBef>
              <a:spcAft>
                <a:spcPts val="0"/>
              </a:spcAft>
              <a:buNone/>
            </a:pPr>
            <a:endParaRPr dirty="0"/>
          </a:p>
          <a:p>
            <a:pPr marL="0" marR="0" lvl="0" indent="0" algn="l" rtl="0">
              <a:lnSpc>
                <a:spcPct val="100000"/>
              </a:lnSpc>
              <a:spcBef>
                <a:spcPts val="0"/>
              </a:spcBef>
              <a:spcAft>
                <a:spcPts val="0"/>
              </a:spcAft>
              <a:buClr>
                <a:schemeClr val="dk1"/>
              </a:buClr>
              <a:buSzPts val="1200"/>
              <a:buFont typeface="Calibri"/>
              <a:buNone/>
            </a:pPr>
            <a:r>
              <a:rPr lang="en-GB" dirty="0"/>
              <a:t>1990: The first Pride event is held in Manchester.</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1992: The World Health Organisation declassifies same-sex attraction as a mental illness.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2003: Section 28 is repealed in England, Wales and Northern Ireland.</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2003: Employment Equality (Sexual Orientation) Regulations becomes law in the UK, making it illegal to discriminate against lesbians, gay and bi people in the workplace.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GB" dirty="0"/>
              <a:t>2013: Marriage (Same-Sex Couples) Act is passed in England and Wales. It comes into force in 2014.</a:t>
            </a:r>
            <a:endParaRPr dirty="0"/>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106" name="Google Shape;106;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10</a:t>
            </a:fld>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8" name="Google Shape;13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Direct</a:t>
            </a:r>
            <a:r>
              <a:rPr lang="en-GB" baseline="0" dirty="0"/>
              <a:t> </a:t>
            </a:r>
            <a:r>
              <a:rPr lang="en-US" sz="1200" dirty="0"/>
              <a:t>– someone being treated less favourably because of their sexual orientation or gender identity, such as a colleague purposefully ignoring someone because they're gay. </a:t>
            </a:r>
            <a:br>
              <a:rPr lang="en-US" sz="1200" dirty="0"/>
            </a:br>
            <a:br>
              <a:rPr lang="en-US" sz="1200" dirty="0"/>
            </a:br>
            <a:r>
              <a:rPr lang="en-US" sz="1200" dirty="0"/>
              <a:t>Indirect - </a:t>
            </a:r>
            <a:r>
              <a:rPr lang="en-GB" sz="1200" dirty="0"/>
              <a:t>a policy or rule for all employees that discriminates against an LGBT+ employee, such as requiring staff to disclose their trans history. </a:t>
            </a:r>
            <a:br>
              <a:rPr lang="en-GB" sz="1200" dirty="0"/>
            </a:br>
            <a:br>
              <a:rPr lang="en-GB" sz="1200" dirty="0"/>
            </a:br>
            <a:r>
              <a:rPr lang="en-GB" sz="1200" dirty="0"/>
              <a:t>Harassment </a:t>
            </a:r>
            <a:r>
              <a:rPr lang="en-US" sz="1200" dirty="0"/>
              <a:t>– unwanted conduct that violates an LGBT+ person's sense of dignity or creates a hostile and degrading environment, such as verbal or physical abuse. </a:t>
            </a:r>
            <a:br>
              <a:rPr lang="en-US" sz="1200" dirty="0"/>
            </a:br>
            <a:br>
              <a:rPr lang="en-US" sz="1200" dirty="0"/>
            </a:br>
            <a:r>
              <a:rPr lang="en-US" sz="1200" dirty="0"/>
              <a:t>Victimisation: – unfair treatment of a staff member because they have complained of discrimination in the workplace. This could include a manager not promoting an employee because they believe the person made a complaint about biphobia.</a:t>
            </a:r>
          </a:p>
        </p:txBody>
      </p:sp>
      <p:sp>
        <p:nvSpPr>
          <p:cNvPr id="156" name="Google Shape;15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If you remain unconvinced…</a:t>
            </a:r>
            <a:endParaRPr dirty="0"/>
          </a:p>
        </p:txBody>
      </p:sp>
      <p:sp>
        <p:nvSpPr>
          <p:cNvPr id="162" name="Google Shape;162;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See word document for resources – these need printing in advance OR use the following slide as an alternative to avoid printing.</a:t>
            </a:r>
          </a:p>
          <a:p>
            <a:pPr marL="0" lvl="0" indent="0" algn="l" rtl="0">
              <a:spcBef>
                <a:spcPts val="0"/>
              </a:spcBef>
              <a:spcAft>
                <a:spcPts val="0"/>
              </a:spcAft>
              <a:buNone/>
            </a:pPr>
            <a:endParaRPr lang="en-GB" dirty="0"/>
          </a:p>
          <a:p>
            <a:pPr marL="0" lvl="0" indent="0" algn="l" rtl="0">
              <a:spcBef>
                <a:spcPts val="0"/>
              </a:spcBef>
              <a:spcAft>
                <a:spcPts val="0"/>
              </a:spcAft>
              <a:buNone/>
            </a:pPr>
            <a:r>
              <a:rPr lang="en-GB" dirty="0"/>
              <a:t>Work in pairs or groups</a:t>
            </a:r>
            <a:r>
              <a:rPr lang="en-GB" baseline="0" dirty="0"/>
              <a:t> of three.</a:t>
            </a:r>
            <a:endParaRPr dirty="0"/>
          </a:p>
        </p:txBody>
      </p:sp>
      <p:sp>
        <p:nvSpPr>
          <p:cNvPr id="174" name="Google Shape;174;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To be used if you need to avoid printing resources.</a:t>
            </a:r>
          </a:p>
          <a:p>
            <a:r>
              <a:rPr lang="en-GB" dirty="0"/>
              <a:t>Suggest working in pairs or small groups.</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639633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lvl="0" indent="-228600" algn="l" rtl="0">
              <a:lnSpc>
                <a:spcPct val="80000"/>
              </a:lnSpc>
              <a:spcBef>
                <a:spcPts val="0"/>
              </a:spcBef>
              <a:spcAft>
                <a:spcPts val="0"/>
              </a:spcAft>
              <a:buClr>
                <a:schemeClr val="dk1"/>
              </a:buClr>
              <a:buSzPts val="2590"/>
              <a:buChar char="•"/>
            </a:pPr>
            <a:r>
              <a:rPr lang="en-GB" sz="1200" dirty="0"/>
              <a:t>Understand the difference between sex, sexual orientation, gender identity and gender expression: </a:t>
            </a:r>
            <a:endParaRPr lang="en-GB" dirty="0"/>
          </a:p>
          <a:p>
            <a:pPr marL="228600" lvl="0" indent="-228600" algn="l" rtl="0">
              <a:lnSpc>
                <a:spcPct val="80000"/>
              </a:lnSpc>
              <a:spcBef>
                <a:spcPts val="1000"/>
              </a:spcBef>
              <a:spcAft>
                <a:spcPts val="0"/>
              </a:spcAft>
              <a:buClr>
                <a:schemeClr val="dk1"/>
              </a:buClr>
              <a:buSzPts val="2590"/>
              <a:buChar char="•"/>
            </a:pPr>
            <a:r>
              <a:rPr lang="en-GB" sz="1200" dirty="0"/>
              <a:t> Sex – assigned, determined, defined at birth by your doctor (either female or male). </a:t>
            </a:r>
            <a:endParaRPr lang="en-GB" dirty="0"/>
          </a:p>
          <a:p>
            <a:pPr marL="228600" lvl="0" indent="-228600" algn="l" rtl="0">
              <a:lnSpc>
                <a:spcPct val="80000"/>
              </a:lnSpc>
              <a:spcBef>
                <a:spcPts val="1000"/>
              </a:spcBef>
              <a:spcAft>
                <a:spcPts val="0"/>
              </a:spcAft>
              <a:buClr>
                <a:schemeClr val="dk1"/>
              </a:buClr>
              <a:buSzPts val="2590"/>
              <a:buChar char="•"/>
            </a:pPr>
            <a:r>
              <a:rPr lang="en-GB" sz="1200" dirty="0"/>
              <a:t> Sexual orientation – how we describe our emotional, physical, spiritual and romantic attraction e.g. gay / lesbian, bisexual, heterosexual (and many more) </a:t>
            </a:r>
            <a:endParaRPr lang="en-GB" dirty="0"/>
          </a:p>
          <a:p>
            <a:pPr marL="228600" lvl="0" indent="-228600" algn="l" rtl="0">
              <a:lnSpc>
                <a:spcPct val="80000"/>
              </a:lnSpc>
              <a:spcBef>
                <a:spcPts val="1000"/>
              </a:spcBef>
              <a:spcAft>
                <a:spcPts val="0"/>
              </a:spcAft>
              <a:buClr>
                <a:schemeClr val="dk1"/>
              </a:buClr>
              <a:buSzPts val="2590"/>
              <a:buChar char="•"/>
            </a:pPr>
            <a:r>
              <a:rPr lang="en-GB" sz="1200" dirty="0"/>
              <a:t> Gender identity – a person’s deeply held, internal sense of their gender identity e.g. woman, man, non-binary, genderqueer, gender fluid. </a:t>
            </a:r>
            <a:endParaRPr lang="en-GB" dirty="0"/>
          </a:p>
          <a:p>
            <a:pPr marL="228600" lvl="0" indent="-228600" algn="l" rtl="0">
              <a:lnSpc>
                <a:spcPct val="80000"/>
              </a:lnSpc>
              <a:spcBef>
                <a:spcPts val="1000"/>
              </a:spcBef>
              <a:spcAft>
                <a:spcPts val="0"/>
              </a:spcAft>
              <a:buClr>
                <a:schemeClr val="dk1"/>
              </a:buClr>
              <a:buSzPts val="2590"/>
              <a:buChar char="•"/>
            </a:pPr>
            <a:r>
              <a:rPr lang="en-GB" sz="1200" dirty="0"/>
              <a:t> Gender expression – how people express their gender e.g. through clothing, how they act and speak</a:t>
            </a:r>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17</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023216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Only the lesser known phrases are included. </a:t>
            </a:r>
          </a:p>
          <a:p>
            <a:r>
              <a:rPr lang="en-GB" dirty="0"/>
              <a:t>Chosen to skip through well known terms like ‘gay’.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18</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399828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Only the lesser known phrases are included. </a:t>
            </a:r>
          </a:p>
          <a:p>
            <a:r>
              <a:rPr lang="en-GB" dirty="0"/>
              <a:t>Chosen to skip through well known terms like ‘gay’.</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19</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798341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1" u="none" strike="noStrike" cap="none" dirty="0">
                <a:solidFill>
                  <a:schemeClr val="dk1"/>
                </a:solidFill>
                <a:effectLst/>
                <a:latin typeface="Calibri"/>
                <a:ea typeface="Calibri"/>
                <a:cs typeface="Calibri"/>
                <a:sym typeface="Calibri"/>
              </a:rPr>
              <a:t>Some facilitators have expressed that this slide is the most challenging to deliver due to their own lack of knowledge around intersex people. Some helpful reading is provided below. We suggest you read these in advance, so you feel more prepared.</a:t>
            </a:r>
            <a:endParaRPr lang="en-GB" sz="1200" b="0" i="0" u="none" strike="noStrike" cap="none" dirty="0">
              <a:solidFill>
                <a:schemeClr val="dk1"/>
              </a:solidFill>
              <a:effectLst/>
              <a:latin typeface="Calibri"/>
              <a:ea typeface="Calibri"/>
              <a:cs typeface="Calibri"/>
              <a:sym typeface="Calibri"/>
            </a:endParaRPr>
          </a:p>
          <a:p>
            <a:r>
              <a:rPr lang="en-GB" sz="1200" b="0" i="0" u="sng" strike="noStrike" cap="none" dirty="0">
                <a:solidFill>
                  <a:schemeClr val="dk1"/>
                </a:solidFill>
                <a:effectLst/>
                <a:latin typeface="Calibri"/>
                <a:ea typeface="Calibri"/>
                <a:cs typeface="Calibri"/>
                <a:sym typeface="Calibri"/>
                <a:hlinkClick r:id="rId3"/>
              </a:rPr>
              <a:t>https://www.theguardian.com/world/2016/jul/02/male-and-female-what-is-it-like-to-be-intersex</a:t>
            </a:r>
            <a:endParaRPr lang="en-GB" sz="1200" b="0" i="0" u="none" strike="noStrike" cap="none" dirty="0">
              <a:solidFill>
                <a:schemeClr val="dk1"/>
              </a:solidFill>
              <a:effectLst/>
              <a:latin typeface="Calibri"/>
              <a:ea typeface="Calibri"/>
              <a:cs typeface="Calibri"/>
              <a:sym typeface="Calibri"/>
            </a:endParaRPr>
          </a:p>
          <a:p>
            <a:r>
              <a:rPr lang="en-GB" sz="1200" b="0" i="0" u="sng" strike="noStrike" cap="none" dirty="0">
                <a:solidFill>
                  <a:schemeClr val="dk1"/>
                </a:solidFill>
                <a:effectLst/>
                <a:latin typeface="Calibri"/>
                <a:ea typeface="Calibri"/>
                <a:cs typeface="Calibri"/>
                <a:sym typeface="Calibri"/>
                <a:hlinkClick r:id="rId4"/>
              </a:rPr>
              <a:t>https://www.minus18.org.au/index.php/articles/item/2-847-im-intersex-heres-what-that-means</a:t>
            </a:r>
            <a:endParaRPr lang="en-GB" sz="1200" b="0" i="0" u="none" strike="noStrike" cap="none" dirty="0">
              <a:solidFill>
                <a:schemeClr val="dk1"/>
              </a:solidFill>
              <a:effectLst/>
              <a:latin typeface="Calibri"/>
              <a:ea typeface="Calibri"/>
              <a:cs typeface="Calibri"/>
              <a:sym typeface="Calibri"/>
            </a:endParaRPr>
          </a:p>
          <a:p>
            <a:r>
              <a:rPr lang="en-GB" sz="1200" b="0" i="0" u="sng" strike="noStrike" cap="none" dirty="0">
                <a:solidFill>
                  <a:schemeClr val="dk1"/>
                </a:solidFill>
                <a:effectLst/>
                <a:latin typeface="Calibri"/>
                <a:ea typeface="Calibri"/>
                <a:cs typeface="Calibri"/>
                <a:sym typeface="Calibri"/>
                <a:hlinkClick r:id="rId5"/>
              </a:rPr>
              <a:t>https://www.amnesty.org/en/latest/news/2018/10/its-intersex-awareness-day-here-are-5-myths-we-need-to-shatter/</a:t>
            </a:r>
            <a:endParaRPr lang="en-GB" dirty="0"/>
          </a:p>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76670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22</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57913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00050" indent="-171450" eaLnBrk="1" fontAlgn="auto" hangingPunct="1">
              <a:spcBef>
                <a:spcPts val="0"/>
              </a:spcBef>
              <a:spcAft>
                <a:spcPts val="0"/>
              </a:spcAft>
              <a:buClr>
                <a:srgbClr val="000000"/>
              </a:buClr>
              <a:buFont typeface="Arial" panose="020B0604020202020204" pitchFamily="34" charset="0"/>
              <a:buChar char="•"/>
              <a:defRPr/>
            </a:pPr>
            <a:r>
              <a:rPr lang="en-GB" sz="1200" kern="0" dirty="0">
                <a:solidFill>
                  <a:schemeClr val="dk1"/>
                </a:solidFill>
                <a:ea typeface="Verdana"/>
                <a:sym typeface="Verdana"/>
              </a:rPr>
              <a:t>The term ‘non-binary’ refers to </a:t>
            </a:r>
            <a:r>
              <a:rPr lang="en-GB" sz="1200" b="1" kern="0" dirty="0">
                <a:solidFill>
                  <a:schemeClr val="dk1"/>
                </a:solidFill>
                <a:ea typeface="Verdana"/>
                <a:sym typeface="Verdana"/>
              </a:rPr>
              <a:t>people who experience a sense of their own identity that falls outside of the gender binary</a:t>
            </a:r>
            <a:r>
              <a:rPr lang="en-GB" sz="1200" kern="0" dirty="0">
                <a:solidFill>
                  <a:schemeClr val="dk1"/>
                </a:solidFill>
                <a:ea typeface="Verdana"/>
                <a:sym typeface="Verdana"/>
              </a:rPr>
              <a:t>. </a:t>
            </a:r>
          </a:p>
          <a:p>
            <a:pPr marL="400050" indent="-171450" eaLnBrk="1" fontAlgn="auto" hangingPunct="1">
              <a:spcBef>
                <a:spcPts val="0"/>
              </a:spcBef>
              <a:spcAft>
                <a:spcPts val="0"/>
              </a:spcAft>
              <a:buClr>
                <a:srgbClr val="000000"/>
              </a:buClr>
              <a:buFont typeface="Arial" panose="020B0604020202020204" pitchFamily="34" charset="0"/>
              <a:buChar char="•"/>
              <a:defRPr/>
            </a:pPr>
            <a:r>
              <a:rPr lang="en-GB" sz="1200" kern="0" dirty="0">
                <a:solidFill>
                  <a:schemeClr val="dk1"/>
                </a:solidFill>
                <a:ea typeface="Verdana"/>
                <a:sym typeface="Verdana"/>
              </a:rPr>
              <a:t>Non-binary people class themselves as </a:t>
            </a:r>
            <a:r>
              <a:rPr lang="en-GB" sz="1200" b="1" kern="0" dirty="0">
                <a:solidFill>
                  <a:schemeClr val="dk1"/>
                </a:solidFill>
                <a:ea typeface="Verdana"/>
                <a:sym typeface="Verdana"/>
              </a:rPr>
              <a:t>neither exclusively male nor female</a:t>
            </a:r>
            <a:r>
              <a:rPr lang="en-GB" sz="1200" kern="0" dirty="0">
                <a:solidFill>
                  <a:schemeClr val="dk1"/>
                </a:solidFill>
                <a:ea typeface="Verdana"/>
                <a:sym typeface="Verdana"/>
              </a:rPr>
              <a:t>. They may or may not consider themselves to be trans. Some nonbinary people experience g</a:t>
            </a:r>
            <a:r>
              <a:rPr lang="en-GB" sz="1200" b="0" kern="0" dirty="0">
                <a:solidFill>
                  <a:schemeClr val="dk1"/>
                </a:solidFill>
                <a:ea typeface="Verdana"/>
                <a:sym typeface="Verdana"/>
              </a:rPr>
              <a:t>ender dysphoria.</a:t>
            </a:r>
          </a:p>
          <a:p>
            <a:pPr marL="400050" indent="-171450" eaLnBrk="1" fontAlgn="auto" hangingPunct="1">
              <a:spcBef>
                <a:spcPts val="0"/>
              </a:spcBef>
              <a:spcAft>
                <a:spcPts val="0"/>
              </a:spcAft>
              <a:buClr>
                <a:srgbClr val="000000"/>
              </a:buClr>
              <a:buFont typeface="Arial" panose="020B0604020202020204" pitchFamily="34" charset="0"/>
              <a:buChar char="•"/>
              <a:defRPr/>
            </a:pPr>
            <a:r>
              <a:rPr lang="en-US" sz="1100" kern="0" dirty="0">
                <a:solidFill>
                  <a:schemeClr val="dk1"/>
                </a:solidFill>
                <a:ea typeface="Verdana"/>
                <a:sym typeface="Verdana"/>
              </a:rPr>
              <a:t>Nonbinary identities are not a modern or Western invention. They have existed in multiple cultures throughout history. </a:t>
            </a: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23</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42821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0" algn="l" defTabSz="914400" rtl="0" eaLnBrk="1" fontAlgn="auto" latinLnBrk="0" hangingPunct="1">
              <a:lnSpc>
                <a:spcPct val="100000"/>
              </a:lnSpc>
              <a:spcBef>
                <a:spcPts val="0"/>
              </a:spcBef>
              <a:spcAft>
                <a:spcPts val="0"/>
              </a:spcAft>
              <a:buClr>
                <a:srgbClr val="000000"/>
              </a:buClr>
              <a:buSzPts val="1400"/>
              <a:buFont typeface="Arial" panose="020B0604020202020204" pitchFamily="34" charset="0"/>
              <a:buNone/>
              <a:tabLst/>
              <a:defRPr/>
            </a:pPr>
            <a:r>
              <a:rPr lang="en-GB" sz="1200" kern="0" dirty="0">
                <a:solidFill>
                  <a:schemeClr val="dk1"/>
                </a:solidFill>
                <a:ea typeface="Arial"/>
                <a:sym typeface="Arial"/>
              </a:rPr>
              <a:t>Some people argue that they and them are not grammatically correct for singular usage but we do in fact use these pronouns in the singular all the time, you might hear someone say </a:t>
            </a:r>
            <a:r>
              <a:rPr lang="en-GB" sz="1200" i="0" kern="0" dirty="0">
                <a:solidFill>
                  <a:schemeClr val="dk1"/>
                </a:solidFill>
                <a:ea typeface="Arial"/>
                <a:sym typeface="Arial"/>
              </a:rPr>
              <a:t>“Oh look, someone has left THEIR phone on the table, I wonder if THEY will come back for it?”</a:t>
            </a:r>
          </a:p>
          <a:p>
            <a:pPr marL="228600" indent="0" eaLnBrk="1" fontAlgn="auto" hangingPunct="1">
              <a:spcBef>
                <a:spcPts val="0"/>
              </a:spcBef>
              <a:spcAft>
                <a:spcPts val="0"/>
              </a:spcAft>
              <a:buClr>
                <a:srgbClr val="000000"/>
              </a:buClr>
              <a:buFont typeface="Arial" panose="020B0604020202020204" pitchFamily="34" charset="0"/>
              <a:buNone/>
              <a:defRPr/>
            </a:pPr>
            <a:endParaRPr lang="en-GB" sz="1200" b="0" i="1" kern="0" baseline="0" dirty="0">
              <a:solidFill>
                <a:srgbClr val="000000"/>
              </a:solidFill>
              <a:effectLst/>
              <a:latin typeface="Arial"/>
              <a:ea typeface="Arial"/>
              <a:cs typeface="Arial"/>
              <a:sym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24</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255459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86" name="Google Shape;186;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GB" dirty="0"/>
              <a:t>Transition is the accurate term that does not fixate on surgeries, which not all transgender people wish to have or are able to undergo. Terms like pre-operative or post-operative unnecessarily fixate on a person’s anatomy.</a:t>
            </a:r>
          </a:p>
        </p:txBody>
      </p:sp>
      <p:sp>
        <p:nvSpPr>
          <p:cNvPr id="192" name="Google Shape;19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baseline="0" dirty="0"/>
              <a:t>Don’t just leave it to LGBT+ colleagues to champion LGBT+ causes, and don’t assume that they want to visibly do so, or do so at all</a:t>
            </a:r>
            <a:endParaRPr lang="en-GB" dirty="0"/>
          </a:p>
        </p:txBody>
      </p:sp>
      <p:sp>
        <p:nvSpPr>
          <p:cNvPr id="198" name="Google Shape;198;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GB" dirty="0"/>
              <a:t>Do participants pick up on “transgendered”</a:t>
            </a:r>
          </a:p>
          <a:p>
            <a:pPr marL="0" lvl="0" indent="0" algn="l" rtl="0">
              <a:spcBef>
                <a:spcPts val="0"/>
              </a:spcBef>
              <a:spcAft>
                <a:spcPts val="0"/>
              </a:spcAft>
              <a:buNone/>
            </a:pPr>
            <a:r>
              <a:rPr lang="en-GB" dirty="0"/>
              <a:t>People are more productive</a:t>
            </a:r>
            <a:r>
              <a:rPr lang="en-GB" baseline="0" dirty="0"/>
              <a:t> if they feel comfortable at work</a:t>
            </a:r>
          </a:p>
          <a:p>
            <a:pPr marL="0" lvl="0" indent="0" algn="l" rtl="0">
              <a:spcBef>
                <a:spcPts val="0"/>
              </a:spcBef>
              <a:spcAft>
                <a:spcPts val="0"/>
              </a:spcAft>
              <a:buNone/>
            </a:pPr>
            <a:r>
              <a:rPr lang="en-GB" baseline="0" dirty="0"/>
              <a:t>It’s not about “belief” rather acceptance of reality and fair treatment</a:t>
            </a:r>
            <a:endParaRPr dirty="0"/>
          </a:p>
        </p:txBody>
      </p:sp>
      <p:sp>
        <p:nvSpPr>
          <p:cNvPr id="228" name="Google Shape;228;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Apologise</a:t>
            </a:r>
          </a:p>
          <a:p>
            <a:r>
              <a:rPr lang="en-GB" dirty="0"/>
              <a:t>Don’t make assumptions going forward</a:t>
            </a:r>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31</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58703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7487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537412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36</a:t>
            </a:fld>
            <a:endParaRPr lang="en-GB" sz="12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876959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dirty="0"/>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dirty="0"/>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dirty="0"/>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dirty="0"/>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87"/>
        <p:cNvGrpSpPr/>
        <p:nvPr/>
      </p:nvGrpSpPr>
      <p:grpSpPr>
        <a:xfrm>
          <a:off x="0" y="0"/>
          <a:ext cx="0" cy="0"/>
          <a:chOff x="0" y="0"/>
          <a:chExt cx="0" cy="0"/>
        </a:xfrm>
      </p:grpSpPr>
      <p:sp>
        <p:nvSpPr>
          <p:cNvPr id="137" name="Rectangle 136">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4633546"/>
            <a:ext cx="11438793" cy="1844256"/>
          </a:xfrm>
          <a:prstGeom prst="rect">
            <a:avLst/>
          </a:prstGeom>
          <a:solidFill>
            <a:schemeClr val="tx1">
              <a:lumMod val="75000"/>
              <a:lumOff val="25000"/>
            </a:schemeClr>
          </a:solidFill>
          <a:ln w="127000" cap="sq" cmpd="thinThick">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8" name="Google Shape;88;p13"/>
          <p:cNvSpPr txBox="1">
            <a:spLocks noGrp="1"/>
          </p:cNvSpPr>
          <p:nvPr>
            <p:ph type="ctrTitle"/>
          </p:nvPr>
        </p:nvSpPr>
        <p:spPr>
          <a:xfrm>
            <a:off x="526073" y="4756638"/>
            <a:ext cx="11139854" cy="930447"/>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6000"/>
              <a:buFont typeface="Calibri"/>
              <a:buNone/>
            </a:pPr>
            <a:r>
              <a:rPr lang="en-GB" sz="5400" b="1">
                <a:solidFill>
                  <a:schemeClr val="bg1"/>
                </a:solidFill>
              </a:rPr>
              <a:t>LGBT+ Allies Training</a:t>
            </a:r>
          </a:p>
        </p:txBody>
      </p:sp>
      <p:sp>
        <p:nvSpPr>
          <p:cNvPr id="89" name="Google Shape;89;p13"/>
          <p:cNvSpPr txBox="1">
            <a:spLocks noGrp="1"/>
          </p:cNvSpPr>
          <p:nvPr>
            <p:ph type="subTitle" idx="1"/>
          </p:nvPr>
        </p:nvSpPr>
        <p:spPr>
          <a:xfrm>
            <a:off x="1524000" y="5815698"/>
            <a:ext cx="9144000" cy="420001"/>
          </a:xfrm>
          <a:prstGeom prst="rect">
            <a:avLst/>
          </a:prstGeom>
        </p:spPr>
        <p:txBody>
          <a:bodyPr spcFirstLastPara="1" lIns="91425" tIns="45700" rIns="91425" bIns="45700" anchorCtr="0">
            <a:normAutofit fontScale="92500" lnSpcReduction="20000"/>
          </a:bodyPr>
          <a:lstStyle/>
          <a:p>
            <a:pPr marL="0" lvl="0" indent="0" rtl="0">
              <a:spcBef>
                <a:spcPts val="0"/>
              </a:spcBef>
              <a:spcAft>
                <a:spcPts val="600"/>
              </a:spcAft>
              <a:buClr>
                <a:schemeClr val="dk1"/>
              </a:buClr>
              <a:buSzPts val="2400"/>
              <a:buNone/>
            </a:pPr>
            <a:r>
              <a:rPr lang="en-GB" b="1" dirty="0">
                <a:solidFill>
                  <a:schemeClr val="bg1"/>
                </a:solidFill>
              </a:rPr>
              <a:t>Supporting your LGBT+ colleagues</a:t>
            </a:r>
          </a:p>
        </p:txBody>
      </p:sp>
      <p:pic>
        <p:nvPicPr>
          <p:cNvPr id="1028" name="Picture 4">
            <a:extLst>
              <a:ext uri="{FF2B5EF4-FFF2-40B4-BE49-F238E27FC236}">
                <a16:creationId xmlns:a16="http://schemas.microsoft.com/office/drawing/2014/main" id="{C3FC78AE-C9B6-4604-894E-5F57C405F9A5}"/>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073966" y="307731"/>
            <a:ext cx="5988969" cy="3997637"/>
          </a:xfrm>
          <a:prstGeom prst="rect">
            <a:avLst/>
          </a:prstGeom>
          <a:noFill/>
          <a:extLst>
            <a:ext uri="{909E8E84-426E-40DD-AFC4-6F175D3DCCD1}">
              <a14:hiddenFill xmlns:a14="http://schemas.microsoft.com/office/drawing/2010/main">
                <a:solidFill>
                  <a:srgbClr val="FFFFFF"/>
                </a:solidFill>
              </a14:hiddenFill>
            </a:ext>
          </a:extLst>
        </p:spPr>
      </p:pic>
      <p:cxnSp>
        <p:nvCxnSpPr>
          <p:cNvPr id="139" name="Straight Connector 138">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573869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6D377B-3471-4097-8509-69A8D8CE8DDF}"/>
              </a:ext>
            </a:extLst>
          </p:cNvPr>
          <p:cNvSpPr>
            <a:spLocks noGrp="1"/>
          </p:cNvSpPr>
          <p:nvPr>
            <p:ph type="title"/>
          </p:nvPr>
        </p:nvSpPr>
        <p:spPr/>
        <p:txBody>
          <a:bodyPr/>
          <a:lstStyle/>
          <a:p>
            <a:r>
              <a:rPr lang="en-GB" b="1" dirty="0"/>
              <a:t>Note to Users &amp; Menu</a:t>
            </a:r>
          </a:p>
        </p:txBody>
      </p:sp>
      <p:sp>
        <p:nvSpPr>
          <p:cNvPr id="3" name="Text Placeholder 2">
            <a:extLst>
              <a:ext uri="{FF2B5EF4-FFF2-40B4-BE49-F238E27FC236}">
                <a16:creationId xmlns:a16="http://schemas.microsoft.com/office/drawing/2014/main" id="{56EAA35A-89E8-4A16-A531-307D553665F4}"/>
              </a:ext>
            </a:extLst>
          </p:cNvPr>
          <p:cNvSpPr>
            <a:spLocks noGrp="1"/>
          </p:cNvSpPr>
          <p:nvPr>
            <p:ph type="body" idx="1"/>
          </p:nvPr>
        </p:nvSpPr>
        <p:spPr>
          <a:xfrm>
            <a:off x="543464" y="1591056"/>
            <a:ext cx="11105992" cy="4619964"/>
          </a:xfrm>
        </p:spPr>
        <p:txBody>
          <a:bodyPr/>
          <a:lstStyle/>
          <a:p>
            <a:pPr>
              <a:spcBef>
                <a:spcPts val="0"/>
              </a:spcBef>
              <a:spcAft>
                <a:spcPts val="300"/>
              </a:spcAft>
            </a:pPr>
            <a:r>
              <a:rPr lang="en-GB" sz="2400" dirty="0"/>
              <a:t>This PowerPoint contains material for an hour and a half training session. There is also a script to support you in delivering the training.</a:t>
            </a:r>
          </a:p>
          <a:p>
            <a:pPr>
              <a:spcBef>
                <a:spcPts val="0"/>
              </a:spcBef>
              <a:spcAft>
                <a:spcPts val="300"/>
              </a:spcAft>
              <a:buSzPct val="71000"/>
              <a:buFont typeface="Arial" panose="020B0604020202020204" pitchFamily="34" charset="0"/>
              <a:buChar char="•"/>
            </a:pPr>
            <a:r>
              <a:rPr lang="en-GB" sz="2400" dirty="0"/>
              <a:t>For flexibility, it has been divided into smaller sections. These smaller sections can be used alone or combined as needed. Approximate timings are listed:</a:t>
            </a:r>
          </a:p>
          <a:p>
            <a:pPr marL="571500" indent="-457200">
              <a:spcBef>
                <a:spcPts val="0"/>
              </a:spcBef>
              <a:spcAft>
                <a:spcPts val="300"/>
              </a:spcAft>
              <a:buSzPct val="71000"/>
              <a:buFont typeface="+mj-lt"/>
              <a:buAutoNum type="arabicPeriod"/>
            </a:pPr>
            <a:r>
              <a:rPr lang="en-GB" sz="2400" dirty="0"/>
              <a:t>Introduction &amp; Objectives (5 minutes)</a:t>
            </a:r>
          </a:p>
          <a:p>
            <a:pPr marL="571500" indent="-457200">
              <a:spcBef>
                <a:spcPts val="0"/>
              </a:spcBef>
              <a:spcAft>
                <a:spcPts val="300"/>
              </a:spcAft>
              <a:buSzPct val="71000"/>
              <a:buFont typeface="+mj-lt"/>
              <a:buAutoNum type="arabicPeriod"/>
            </a:pPr>
            <a:r>
              <a:rPr lang="en-GB" sz="2400" dirty="0"/>
              <a:t>Exercise: Hiding Your Identity (8 minutes)</a:t>
            </a:r>
          </a:p>
          <a:p>
            <a:pPr marL="571500" indent="-457200">
              <a:spcBef>
                <a:spcPts val="0"/>
              </a:spcBef>
              <a:spcAft>
                <a:spcPts val="300"/>
              </a:spcAft>
              <a:buSzPct val="71000"/>
              <a:buFont typeface="+mj-lt"/>
              <a:buAutoNum type="arabicPeriod"/>
            </a:pPr>
            <a:r>
              <a:rPr lang="en-GB" sz="2400" dirty="0"/>
              <a:t>Why We Need Allies Training (13 minutes)</a:t>
            </a:r>
          </a:p>
          <a:p>
            <a:pPr marL="571500" indent="-457200">
              <a:spcBef>
                <a:spcPts val="0"/>
              </a:spcBef>
              <a:spcAft>
                <a:spcPts val="300"/>
              </a:spcAft>
              <a:buSzPct val="71000"/>
              <a:buFont typeface="+mj-lt"/>
              <a:buAutoNum type="arabicPeriod"/>
            </a:pPr>
            <a:r>
              <a:rPr lang="en-GB" sz="2400" dirty="0"/>
              <a:t>Exercise: Terminology (40 minutes)</a:t>
            </a:r>
          </a:p>
          <a:p>
            <a:pPr marL="571500" indent="-457200">
              <a:spcBef>
                <a:spcPts val="0"/>
              </a:spcBef>
              <a:spcAft>
                <a:spcPts val="300"/>
              </a:spcAft>
              <a:buSzPct val="71000"/>
              <a:buFont typeface="+mj-lt"/>
              <a:buAutoNum type="arabicPeriod"/>
            </a:pPr>
            <a:r>
              <a:rPr lang="en-GB" sz="2400" dirty="0"/>
              <a:t>Language to Avoid (6 minutes)</a:t>
            </a:r>
          </a:p>
          <a:p>
            <a:pPr marL="571500" indent="-457200">
              <a:spcBef>
                <a:spcPts val="0"/>
              </a:spcBef>
              <a:spcAft>
                <a:spcPts val="300"/>
              </a:spcAft>
              <a:buSzPct val="71000"/>
              <a:buFont typeface="+mj-lt"/>
              <a:buAutoNum type="arabicPeriod"/>
            </a:pPr>
            <a:r>
              <a:rPr lang="en-GB" sz="2400" dirty="0"/>
              <a:t>Ally Best Practice &amp; Scenarios (14 minutes)</a:t>
            </a:r>
          </a:p>
          <a:p>
            <a:pPr marL="571500" indent="-457200">
              <a:spcBef>
                <a:spcPts val="0"/>
              </a:spcBef>
              <a:spcAft>
                <a:spcPts val="300"/>
              </a:spcAft>
              <a:buSzPct val="71000"/>
              <a:buFont typeface="+mj-lt"/>
              <a:buAutoNum type="arabicPeriod"/>
            </a:pPr>
            <a:r>
              <a:rPr lang="en-GB" sz="2400" dirty="0"/>
              <a:t>End (5 minutes)</a:t>
            </a:r>
          </a:p>
          <a:p>
            <a:pPr>
              <a:spcBef>
                <a:spcPts val="0"/>
              </a:spcBef>
              <a:spcAft>
                <a:spcPts val="300"/>
              </a:spcAft>
              <a:buSzPct val="71000"/>
            </a:pPr>
            <a:r>
              <a:rPr lang="en-GB" sz="2400" dirty="0"/>
              <a:t>Please feel free to edit the structure of the presentation to suit your requirements.</a:t>
            </a:r>
          </a:p>
        </p:txBody>
      </p:sp>
    </p:spTree>
    <p:extLst>
      <p:ext uri="{BB962C8B-B14F-4D97-AF65-F5344CB8AC3E}">
        <p14:creationId xmlns:p14="http://schemas.microsoft.com/office/powerpoint/2010/main" val="4066075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1. Introduction &amp; Objectives</a:t>
            </a:r>
          </a:p>
        </p:txBody>
      </p:sp>
    </p:spTree>
    <p:extLst>
      <p:ext uri="{BB962C8B-B14F-4D97-AF65-F5344CB8AC3E}">
        <p14:creationId xmlns:p14="http://schemas.microsoft.com/office/powerpoint/2010/main" val="2765608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2" name="Rectangle 70">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53" name="Rectangle 72">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2054" name="Rectangle 74">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GB" sz="4000" b="1" dirty="0"/>
              <a:t>Introductions &amp; Housekeeping</a:t>
            </a:r>
          </a:p>
        </p:txBody>
      </p:sp>
      <p:sp>
        <p:nvSpPr>
          <p:cNvPr id="77" name="Rectangle 76">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050" name="Picture 2">
            <a:extLst>
              <a:ext uri="{FF2B5EF4-FFF2-40B4-BE49-F238E27FC236}">
                <a16:creationId xmlns:a16="http://schemas.microsoft.com/office/drawing/2014/main" id="{D313D05E-DBAD-4770-BD93-4445CF70E1C6}"/>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8492" b="3"/>
          <a:stretch/>
        </p:blipFill>
        <p:spPr bwMode="auto">
          <a:xfrm>
            <a:off x="363380" y="2999141"/>
            <a:ext cx="4053638" cy="2491716"/>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p:cNvSpPr>
            <a:spLocks noGrp="1"/>
          </p:cNvSpPr>
          <p:nvPr>
            <p:ph type="body" idx="1"/>
          </p:nvPr>
        </p:nvSpPr>
        <p:spPr>
          <a:xfrm>
            <a:off x="4780399" y="2018807"/>
            <a:ext cx="6942210" cy="4520356"/>
          </a:xfrm>
        </p:spPr>
        <p:txBody>
          <a:bodyPr anchor="ctr">
            <a:normAutofit/>
          </a:bodyPr>
          <a:lstStyle/>
          <a:p>
            <a:pPr>
              <a:lnSpc>
                <a:spcPct val="110000"/>
              </a:lnSpc>
            </a:pPr>
            <a:r>
              <a:rPr lang="en-GB" b="1" dirty="0"/>
              <a:t>Presenters to add name, pronouns, job title, and email address.</a:t>
            </a:r>
          </a:p>
          <a:p>
            <a:pPr>
              <a:lnSpc>
                <a:spcPct val="110000"/>
              </a:lnSpc>
            </a:pPr>
            <a:r>
              <a:rPr lang="en-GB" dirty="0"/>
              <a:t>This is a safe space – ask questions at any point and don’t be afraid to get things wrong!</a:t>
            </a:r>
          </a:p>
          <a:p>
            <a:pPr>
              <a:lnSpc>
                <a:spcPct val="110000"/>
              </a:lnSpc>
            </a:pPr>
            <a:r>
              <a:rPr lang="en-GB" dirty="0"/>
              <a:t>We use the term ‘LGBT+’ to be inclusive of all identities. The term includes allies.</a:t>
            </a:r>
          </a:p>
        </p:txBody>
      </p:sp>
    </p:spTree>
    <p:extLst>
      <p:ext uri="{BB962C8B-B14F-4D97-AF65-F5344CB8AC3E}">
        <p14:creationId xmlns:p14="http://schemas.microsoft.com/office/powerpoint/2010/main" val="21374768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3"/>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2" name="Rectangle 101">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04" name="Rectangle 103">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Google Shape;94;p14"/>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Objectives</a:t>
            </a:r>
            <a:endParaRPr lang="en-GB" sz="4000" dirty="0"/>
          </a:p>
        </p:txBody>
      </p:sp>
      <p:sp>
        <p:nvSpPr>
          <p:cNvPr id="106" name="Rectangle 105">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2">
            <a:extLst>
              <a:ext uri="{FF2B5EF4-FFF2-40B4-BE49-F238E27FC236}">
                <a16:creationId xmlns:a16="http://schemas.microsoft.com/office/drawing/2014/main" id="{2E5F3A4C-4665-4825-811E-376F8DEEED84}"/>
              </a:ext>
              <a:ext uri="{C183D7F6-B498-43B3-948B-1728B52AA6E4}">
                <adec:decorative xmlns:adec="http://schemas.microsoft.com/office/drawing/2017/decorative" val="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6646" r="10960" b="1"/>
          <a:stretch/>
        </p:blipFill>
        <p:spPr bwMode="auto">
          <a:xfrm>
            <a:off x="558209" y="3007895"/>
            <a:ext cx="4264780" cy="2496552"/>
          </a:xfrm>
          <a:prstGeom prst="rect">
            <a:avLst/>
          </a:prstGeom>
          <a:noFill/>
          <a:extLst>
            <a:ext uri="{909E8E84-426E-40DD-AFC4-6F175D3DCCD1}">
              <a14:hiddenFill xmlns:a14="http://schemas.microsoft.com/office/drawing/2010/main">
                <a:solidFill>
                  <a:srgbClr val="FFFFFF"/>
                </a:solidFill>
              </a14:hiddenFill>
            </a:ext>
          </a:extLst>
        </p:spPr>
      </p:pic>
      <p:sp>
        <p:nvSpPr>
          <p:cNvPr id="95" name="Google Shape;95;p14"/>
          <p:cNvSpPr txBox="1">
            <a:spLocks noGrp="1"/>
          </p:cNvSpPr>
          <p:nvPr>
            <p:ph type="body" idx="1"/>
          </p:nvPr>
        </p:nvSpPr>
        <p:spPr>
          <a:xfrm>
            <a:off x="4487779" y="2478024"/>
            <a:ext cx="7146012" cy="3694176"/>
          </a:xfrm>
          <a:prstGeom prst="rect">
            <a:avLst/>
          </a:prstGeom>
        </p:spPr>
        <p:txBody>
          <a:bodyPr spcFirstLastPara="1" lIns="91425" tIns="45700" rIns="91425" bIns="45700" anchor="ctr" anchorCtr="0">
            <a:normAutofit fontScale="92500"/>
          </a:bodyPr>
          <a:lstStyle/>
          <a:p>
            <a:pPr marL="635000" indent="-457200">
              <a:spcBef>
                <a:spcPts val="0"/>
              </a:spcBef>
              <a:spcAft>
                <a:spcPts val="600"/>
              </a:spcAft>
              <a:buSzPts val="2800"/>
            </a:pPr>
            <a:r>
              <a:rPr lang="en-GB" dirty="0"/>
              <a:t>To understand the context of LGBT+ rights and inclusion and why ally training is necessary. </a:t>
            </a:r>
          </a:p>
          <a:p>
            <a:pPr marL="635000" indent="-457200">
              <a:spcBef>
                <a:spcPts val="0"/>
              </a:spcBef>
              <a:spcAft>
                <a:spcPts val="600"/>
              </a:spcAft>
              <a:buSzPts val="2800"/>
            </a:pPr>
            <a:endParaRPr lang="en-GB" dirty="0"/>
          </a:p>
          <a:p>
            <a:pPr marL="635000" indent="-457200">
              <a:spcBef>
                <a:spcPts val="0"/>
              </a:spcBef>
              <a:spcAft>
                <a:spcPts val="600"/>
              </a:spcAft>
              <a:buSzPts val="2800"/>
            </a:pPr>
            <a:r>
              <a:rPr lang="en-GB" dirty="0"/>
              <a:t>To know what language to use and to avoid.</a:t>
            </a:r>
          </a:p>
          <a:p>
            <a:pPr marL="635000" indent="-457200">
              <a:spcBef>
                <a:spcPts val="0"/>
              </a:spcBef>
              <a:spcAft>
                <a:spcPts val="600"/>
              </a:spcAft>
              <a:buSzPts val="2800"/>
            </a:pPr>
            <a:endParaRPr lang="en-GB" dirty="0"/>
          </a:p>
          <a:p>
            <a:pPr marL="635000" indent="-457200">
              <a:spcBef>
                <a:spcPts val="0"/>
              </a:spcBef>
              <a:spcAft>
                <a:spcPts val="600"/>
              </a:spcAft>
              <a:buSzPts val="2800"/>
            </a:pPr>
            <a:r>
              <a:rPr lang="en-GB" dirty="0"/>
              <a:t>To know best practice for being an ally.</a:t>
            </a:r>
          </a:p>
          <a:p>
            <a:pPr marL="635000" indent="-457200">
              <a:spcBef>
                <a:spcPts val="0"/>
              </a:spcBef>
              <a:spcAft>
                <a:spcPts val="600"/>
              </a:spcAft>
              <a:buSzPts val="2800"/>
            </a:pPr>
            <a:endParaRPr lang="en-GB" dirty="0"/>
          </a:p>
          <a:p>
            <a:pPr marL="635000" indent="-457200">
              <a:spcBef>
                <a:spcPts val="0"/>
              </a:spcBef>
              <a:spcAft>
                <a:spcPts val="600"/>
              </a:spcAft>
              <a:buSzPts val="2800"/>
            </a:pPr>
            <a:r>
              <a:rPr lang="en-GB" dirty="0"/>
              <a:t>To explore how to be an ally in practice.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2. Exercise: Hiding Your Identity</a:t>
            </a:r>
          </a:p>
        </p:txBody>
      </p:sp>
    </p:spTree>
    <p:extLst>
      <p:ext uri="{BB962C8B-B14F-4D97-AF65-F5344CB8AC3E}">
        <p14:creationId xmlns:p14="http://schemas.microsoft.com/office/powerpoint/2010/main" val="2418855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0"/>
        <p:cNvGrpSpPr/>
        <p:nvPr/>
      </p:nvGrpSpPr>
      <p:grpSpPr>
        <a:xfrm>
          <a:off x="0" y="0"/>
          <a:ext cx="0" cy="0"/>
          <a:chOff x="0" y="0"/>
          <a:chExt cx="0" cy="0"/>
        </a:xfrm>
      </p:grpSpPr>
      <p:sp useBgFill="1">
        <p:nvSpPr>
          <p:cNvPr id="107" name="Rectangle 106">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9" name="Rectangle 108">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11" name="Rectangle 110">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1" name="Google Shape;101;p15"/>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Exercise</a:t>
            </a:r>
            <a:endParaRPr lang="en-GB" sz="4000" dirty="0"/>
          </a:p>
        </p:txBody>
      </p:sp>
      <p:sp>
        <p:nvSpPr>
          <p:cNvPr id="113" name="Rectangle 112">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02" name="Google Shape;102;p15"/>
          <p:cNvSpPr txBox="1">
            <a:spLocks noGrp="1"/>
          </p:cNvSpPr>
          <p:nvPr>
            <p:ph type="body" idx="1"/>
          </p:nvPr>
        </p:nvSpPr>
        <p:spPr>
          <a:xfrm>
            <a:off x="498834" y="2276856"/>
            <a:ext cx="11274066" cy="4190117"/>
          </a:xfrm>
          <a:prstGeom prst="rect">
            <a:avLst/>
          </a:prstGeom>
        </p:spPr>
        <p:txBody>
          <a:bodyPr spcFirstLastPara="1" lIns="91425" tIns="45700" rIns="91425" bIns="45700" anchorCtr="0">
            <a:normAutofit fontScale="92500" lnSpcReduction="10000"/>
          </a:bodyPr>
          <a:lstStyle/>
          <a:p>
            <a:pPr marL="0" lvl="0" indent="0">
              <a:spcBef>
                <a:spcPts val="0"/>
              </a:spcBef>
              <a:buSzPts val="2590"/>
              <a:buNone/>
            </a:pPr>
            <a:r>
              <a:rPr lang="en-GB" sz="2400" dirty="0"/>
              <a:t>Split into pairs.</a:t>
            </a:r>
          </a:p>
          <a:p>
            <a:pPr marL="0" indent="0">
              <a:buSzPts val="2590"/>
              <a:buNone/>
            </a:pPr>
            <a:r>
              <a:rPr lang="en-GB" sz="2400" dirty="0"/>
              <a:t>Person B try and find out as much as you can about person A’s weekend by asking open questions. Try to interrogate them!</a:t>
            </a:r>
          </a:p>
          <a:p>
            <a:pPr marL="0" indent="0">
              <a:buSzPts val="2590"/>
              <a:buNone/>
            </a:pPr>
            <a:r>
              <a:rPr lang="en-GB" sz="2400" dirty="0"/>
              <a:t>Person A answer questions about your weekend in as much detail as possible for 3 mins but without using: </a:t>
            </a:r>
          </a:p>
          <a:p>
            <a:pPr marL="228600" lvl="0" indent="-228600">
              <a:buSzPts val="2590"/>
            </a:pPr>
            <a:r>
              <a:rPr lang="en-GB" sz="2400" dirty="0"/>
              <a:t>The pronouns he/she</a:t>
            </a:r>
          </a:p>
          <a:p>
            <a:pPr marL="228600" lvl="0" indent="-228600">
              <a:buSzPts val="2590"/>
            </a:pPr>
            <a:r>
              <a:rPr lang="en-GB" sz="2400" dirty="0"/>
              <a:t>Any ‘gendered’ language e.g. boyfriend, girlfriend, woman, man, husband, wife.</a:t>
            </a:r>
          </a:p>
          <a:p>
            <a:pPr marL="228600" lvl="0" indent="-228600">
              <a:buSzPts val="2590"/>
            </a:pPr>
            <a:r>
              <a:rPr lang="en-GB" sz="2400" dirty="0"/>
              <a:t>Names of people </a:t>
            </a:r>
          </a:p>
          <a:p>
            <a:pPr marL="228600" lvl="0" indent="-228600">
              <a:buSzPts val="2590"/>
            </a:pPr>
            <a:r>
              <a:rPr lang="en-GB" sz="2400" dirty="0"/>
              <a:t>Places </a:t>
            </a:r>
          </a:p>
          <a:p>
            <a:pPr marL="0" lvl="0" indent="0">
              <a:buSzPts val="2590"/>
              <a:buNone/>
            </a:pPr>
            <a:r>
              <a:rPr lang="en-GB" sz="2400" dirty="0"/>
              <a:t>Switch places and repeat.</a:t>
            </a:r>
          </a:p>
          <a:p>
            <a:pPr marL="0" indent="0">
              <a:buSzPts val="2590"/>
              <a:buNone/>
            </a:pPr>
            <a:r>
              <a:rPr lang="en-GB" sz="2400" dirty="0"/>
              <a:t>Notice how many times your partner slips and uses a pronoun, place or name.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3. Why We Need Allies Training</a:t>
            </a:r>
          </a:p>
        </p:txBody>
      </p:sp>
    </p:spTree>
    <p:extLst>
      <p:ext uri="{BB962C8B-B14F-4D97-AF65-F5344CB8AC3E}">
        <p14:creationId xmlns:p14="http://schemas.microsoft.com/office/powerpoint/2010/main" val="2244935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GB" sz="4000" b="1" dirty="0"/>
              <a:t>What is an ally?</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Text Placeholder 2"/>
          <p:cNvSpPr>
            <a:spLocks noGrp="1"/>
          </p:cNvSpPr>
          <p:nvPr>
            <p:ph type="body" idx="1"/>
          </p:nvPr>
        </p:nvSpPr>
        <p:spPr>
          <a:xfrm>
            <a:off x="626850" y="2481943"/>
            <a:ext cx="11095758" cy="3695020"/>
          </a:xfrm>
        </p:spPr>
        <p:txBody>
          <a:bodyPr>
            <a:normAutofit fontScale="92500" lnSpcReduction="10000"/>
          </a:bodyPr>
          <a:lstStyle/>
          <a:p>
            <a:pPr>
              <a:lnSpc>
                <a:spcPct val="110000"/>
              </a:lnSpc>
            </a:pPr>
            <a:r>
              <a:rPr lang="en-US" dirty="0"/>
              <a:t>“LGBT+ ally” is a term used to describe people who believe that lesbian, gay, bisexual and trans people should experience full equality in the workplace. </a:t>
            </a:r>
          </a:p>
          <a:p>
            <a:pPr>
              <a:lnSpc>
                <a:spcPct val="110000"/>
              </a:lnSpc>
            </a:pPr>
            <a:r>
              <a:rPr lang="en-US" dirty="0"/>
              <a:t>Good allies recognise that LGBT+ people can perform better if they can be themselves and allies use their role within an </a:t>
            </a:r>
            <a:r>
              <a:rPr lang="en-GB" dirty="0"/>
              <a:t>organisation</a:t>
            </a:r>
            <a:r>
              <a:rPr lang="en-US" dirty="0"/>
              <a:t> to create a culture where this can happen.</a:t>
            </a:r>
          </a:p>
          <a:p>
            <a:pPr>
              <a:lnSpc>
                <a:spcPct val="110000"/>
              </a:lnSpc>
            </a:pPr>
            <a:r>
              <a:rPr lang="en-GB" dirty="0"/>
              <a:t>The Civil Service aims to be the most diverse and inclusive employer in the UK. That means not just attracting LGBT+ staff but ensuring they stay and thrive within the Civil Service.</a:t>
            </a:r>
          </a:p>
        </p:txBody>
      </p:sp>
    </p:spTree>
    <p:extLst>
      <p:ext uri="{BB962C8B-B14F-4D97-AF65-F5344CB8AC3E}">
        <p14:creationId xmlns:p14="http://schemas.microsoft.com/office/powerpoint/2010/main" val="2183043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GB" b="1" dirty="0"/>
              <a:t>LBGT+ rights in the UK: a timeline</a:t>
            </a:r>
            <a:endParaRPr dirty="0"/>
          </a:p>
        </p:txBody>
      </p:sp>
      <p:grpSp>
        <p:nvGrpSpPr>
          <p:cNvPr id="109" name="Google Shape;109;p16" descr="Diagram of milestone dates for LGBT+ rights in the UK."/>
          <p:cNvGrpSpPr/>
          <p:nvPr/>
        </p:nvGrpSpPr>
        <p:grpSpPr>
          <a:xfrm>
            <a:off x="684325" y="1825904"/>
            <a:ext cx="10669475" cy="4350778"/>
            <a:chOff x="1466407" y="279"/>
            <a:chExt cx="7582785" cy="4350778"/>
          </a:xfrm>
          <a:noFill/>
        </p:grpSpPr>
        <p:sp>
          <p:nvSpPr>
            <p:cNvPr id="110" name="Google Shape;110;p16"/>
            <p:cNvSpPr/>
            <p:nvPr/>
          </p:nvSpPr>
          <p:spPr>
            <a:xfrm rot="5400000">
              <a:off x="1110935" y="987930"/>
              <a:ext cx="1546756"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11" name="Google Shape;111;p16"/>
            <p:cNvSpPr/>
            <p:nvPr/>
          </p:nvSpPr>
          <p:spPr>
            <a:xfrm>
              <a:off x="1466407" y="279"/>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12" name="Google Shape;112;p16"/>
            <p:cNvSpPr txBox="1"/>
            <p:nvPr/>
          </p:nvSpPr>
          <p:spPr>
            <a:xfrm>
              <a:off x="1502816" y="36688"/>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1967: Sex between two men over 21 decriminalised in England/Wales.</a:t>
              </a:r>
              <a:endParaRPr sz="1600" dirty="0">
                <a:solidFill>
                  <a:schemeClr val="tx1"/>
                </a:solidFill>
              </a:endParaRPr>
            </a:p>
          </p:txBody>
        </p:sp>
        <p:sp>
          <p:nvSpPr>
            <p:cNvPr id="113" name="Google Shape;113;p16"/>
            <p:cNvSpPr/>
            <p:nvPr/>
          </p:nvSpPr>
          <p:spPr>
            <a:xfrm rot="5400000">
              <a:off x="1110935" y="2541780"/>
              <a:ext cx="1546756"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14" name="Google Shape;114;p16"/>
            <p:cNvSpPr/>
            <p:nvPr/>
          </p:nvSpPr>
          <p:spPr>
            <a:xfrm>
              <a:off x="1466407" y="1554129"/>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15" name="Google Shape;115;p16"/>
            <p:cNvSpPr txBox="1"/>
            <p:nvPr/>
          </p:nvSpPr>
          <p:spPr>
            <a:xfrm>
              <a:off x="1502816" y="1590538"/>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1969: The Stonewall Riots in Manhattan.</a:t>
              </a:r>
              <a:endParaRPr sz="1600" dirty="0">
                <a:solidFill>
                  <a:schemeClr val="tx1"/>
                </a:solidFill>
              </a:endParaRPr>
            </a:p>
          </p:txBody>
        </p:sp>
        <p:sp>
          <p:nvSpPr>
            <p:cNvPr id="116" name="Google Shape;116;p16"/>
            <p:cNvSpPr/>
            <p:nvPr/>
          </p:nvSpPr>
          <p:spPr>
            <a:xfrm>
              <a:off x="1887860" y="3318704"/>
              <a:ext cx="2748400"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17" name="Google Shape;117;p16"/>
            <p:cNvSpPr/>
            <p:nvPr/>
          </p:nvSpPr>
          <p:spPr>
            <a:xfrm>
              <a:off x="1466407" y="3107978"/>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18" name="Google Shape;118;p16"/>
            <p:cNvSpPr txBox="1"/>
            <p:nvPr/>
          </p:nvSpPr>
          <p:spPr>
            <a:xfrm>
              <a:off x="1502816" y="3144387"/>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1971: The Nullity of Marriage Act bans same-sex marriage.</a:t>
              </a:r>
              <a:endParaRPr sz="1600" dirty="0">
                <a:solidFill>
                  <a:schemeClr val="tx1"/>
                </a:solidFill>
              </a:endParaRPr>
            </a:p>
          </p:txBody>
        </p:sp>
        <p:sp>
          <p:nvSpPr>
            <p:cNvPr id="119" name="Google Shape;119;p16"/>
            <p:cNvSpPr/>
            <p:nvPr/>
          </p:nvSpPr>
          <p:spPr>
            <a:xfrm rot="-5400000">
              <a:off x="3866428" y="2541780"/>
              <a:ext cx="1546756"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0" name="Google Shape;120;p16"/>
            <p:cNvSpPr/>
            <p:nvPr/>
          </p:nvSpPr>
          <p:spPr>
            <a:xfrm>
              <a:off x="4221900" y="3107978"/>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1" name="Google Shape;121;p16"/>
            <p:cNvSpPr txBox="1"/>
            <p:nvPr/>
          </p:nvSpPr>
          <p:spPr>
            <a:xfrm>
              <a:off x="4258309" y="3144387"/>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1988: Section 28 introduced.</a:t>
              </a:r>
              <a:endParaRPr sz="1600" dirty="0">
                <a:solidFill>
                  <a:schemeClr val="tx1"/>
                </a:solidFill>
              </a:endParaRPr>
            </a:p>
          </p:txBody>
        </p:sp>
        <p:sp>
          <p:nvSpPr>
            <p:cNvPr id="122" name="Google Shape;122;p16"/>
            <p:cNvSpPr/>
            <p:nvPr/>
          </p:nvSpPr>
          <p:spPr>
            <a:xfrm rot="-5400000">
              <a:off x="3866428" y="987930"/>
              <a:ext cx="1546756"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3" name="Google Shape;123;p16"/>
            <p:cNvSpPr/>
            <p:nvPr/>
          </p:nvSpPr>
          <p:spPr>
            <a:xfrm>
              <a:off x="4221900" y="1554129"/>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4" name="Google Shape;124;p16"/>
            <p:cNvSpPr txBox="1"/>
            <p:nvPr/>
          </p:nvSpPr>
          <p:spPr>
            <a:xfrm>
              <a:off x="4258309" y="1590538"/>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1990: The first Pride event is held in Manchester</a:t>
              </a:r>
              <a:endParaRPr sz="1600" dirty="0">
                <a:solidFill>
                  <a:schemeClr val="tx1"/>
                </a:solidFill>
              </a:endParaRPr>
            </a:p>
          </p:txBody>
        </p:sp>
        <p:sp>
          <p:nvSpPr>
            <p:cNvPr id="125" name="Google Shape;125;p16"/>
            <p:cNvSpPr/>
            <p:nvPr/>
          </p:nvSpPr>
          <p:spPr>
            <a:xfrm>
              <a:off x="4643353" y="211006"/>
              <a:ext cx="2748400"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6" name="Google Shape;126;p16"/>
            <p:cNvSpPr/>
            <p:nvPr/>
          </p:nvSpPr>
          <p:spPr>
            <a:xfrm>
              <a:off x="4221900" y="279"/>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7" name="Google Shape;127;p16"/>
            <p:cNvSpPr txBox="1"/>
            <p:nvPr/>
          </p:nvSpPr>
          <p:spPr>
            <a:xfrm>
              <a:off x="4258309" y="36688"/>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1992: The WHO declassifies same-sex attraction as a mental illness.</a:t>
              </a:r>
              <a:endParaRPr sz="1600" dirty="0">
                <a:solidFill>
                  <a:schemeClr val="tx1"/>
                </a:solidFill>
              </a:endParaRPr>
            </a:p>
          </p:txBody>
        </p:sp>
        <p:sp>
          <p:nvSpPr>
            <p:cNvPr id="128" name="Google Shape;128;p16"/>
            <p:cNvSpPr/>
            <p:nvPr/>
          </p:nvSpPr>
          <p:spPr>
            <a:xfrm rot="5400000">
              <a:off x="6621921" y="987930"/>
              <a:ext cx="1546756"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29" name="Google Shape;129;p16"/>
            <p:cNvSpPr/>
            <p:nvPr/>
          </p:nvSpPr>
          <p:spPr>
            <a:xfrm>
              <a:off x="6977393" y="279"/>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30" name="Google Shape;130;p16"/>
            <p:cNvSpPr txBox="1"/>
            <p:nvPr/>
          </p:nvSpPr>
          <p:spPr>
            <a:xfrm>
              <a:off x="7013802" y="36688"/>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2003: Section 28 is repealed.</a:t>
              </a:r>
              <a:endParaRPr sz="1600" dirty="0">
                <a:solidFill>
                  <a:schemeClr val="tx1"/>
                </a:solidFill>
              </a:endParaRPr>
            </a:p>
          </p:txBody>
        </p:sp>
        <p:sp>
          <p:nvSpPr>
            <p:cNvPr id="131" name="Google Shape;131;p16"/>
            <p:cNvSpPr/>
            <p:nvPr/>
          </p:nvSpPr>
          <p:spPr>
            <a:xfrm rot="5400000">
              <a:off x="6621921" y="2541780"/>
              <a:ext cx="1546756" cy="1864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32" name="Google Shape;132;p16"/>
            <p:cNvSpPr/>
            <p:nvPr/>
          </p:nvSpPr>
          <p:spPr>
            <a:xfrm>
              <a:off x="6977393" y="1554129"/>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33" name="Google Shape;133;p16"/>
            <p:cNvSpPr txBox="1"/>
            <p:nvPr/>
          </p:nvSpPr>
          <p:spPr>
            <a:xfrm>
              <a:off x="7013802" y="1590538"/>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2003: Employment Equality Regulations become law.</a:t>
              </a:r>
              <a:endParaRPr sz="1600" dirty="0">
                <a:solidFill>
                  <a:schemeClr val="tx1"/>
                </a:solidFill>
              </a:endParaRPr>
            </a:p>
          </p:txBody>
        </p:sp>
        <p:sp>
          <p:nvSpPr>
            <p:cNvPr id="134" name="Google Shape;134;p16"/>
            <p:cNvSpPr/>
            <p:nvPr/>
          </p:nvSpPr>
          <p:spPr>
            <a:xfrm>
              <a:off x="6977393" y="3107978"/>
              <a:ext cx="2071799" cy="1243079"/>
            </a:xfrm>
            <a:prstGeom prst="roundRect">
              <a:avLst>
                <a:gd name="adj" fmla="val 10000"/>
              </a:avLst>
            </a:prstGeom>
            <a:ln>
              <a:headEnd type="none" w="sm" len="sm"/>
              <a:tailEnd type="none" w="sm" len="sm"/>
            </a:ln>
          </p:spPr>
          <p:style>
            <a:lnRef idx="2">
              <a:schemeClr val="accent2"/>
            </a:lnRef>
            <a:fillRef idx="1">
              <a:schemeClr val="lt1"/>
            </a:fillRef>
            <a:effectRef idx="0">
              <a:schemeClr val="accent2"/>
            </a:effectRef>
            <a:fontRef idx="minor">
              <a:schemeClr val="dk1"/>
            </a:fontRef>
          </p:style>
          <p:txBody>
            <a:bodyPr spcFirstLastPara="1" wrap="square" lIns="91425" tIns="91425" rIns="91425" bIns="91425" anchor="ctr" anchorCtr="0">
              <a:noAutofit/>
            </a:bodyPr>
            <a:lstStyle/>
            <a:p>
              <a:pPr marL="0" lvl="0" indent="0" algn="l" rtl="0">
                <a:spcBef>
                  <a:spcPts val="0"/>
                </a:spcBef>
                <a:spcAft>
                  <a:spcPts val="0"/>
                </a:spcAft>
                <a:buNone/>
              </a:pPr>
              <a:endParaRPr sz="1600" dirty="0">
                <a:solidFill>
                  <a:schemeClr val="tx1"/>
                </a:solidFill>
              </a:endParaRPr>
            </a:p>
          </p:txBody>
        </p:sp>
        <p:sp>
          <p:nvSpPr>
            <p:cNvPr id="135" name="Google Shape;135;p16"/>
            <p:cNvSpPr txBox="1"/>
            <p:nvPr/>
          </p:nvSpPr>
          <p:spPr>
            <a:xfrm>
              <a:off x="7013802" y="3144387"/>
              <a:ext cx="1998981" cy="1170261"/>
            </a:xfrm>
            <a:prstGeom prst="rect">
              <a:avLst/>
            </a:prstGeom>
            <a:ln/>
          </p:spPr>
          <p:style>
            <a:lnRef idx="2">
              <a:schemeClr val="accent2"/>
            </a:lnRef>
            <a:fillRef idx="1">
              <a:schemeClr val="lt1"/>
            </a:fillRef>
            <a:effectRef idx="0">
              <a:schemeClr val="accent2"/>
            </a:effectRef>
            <a:fontRef idx="minor">
              <a:schemeClr val="dk1"/>
            </a:fontRef>
          </p:style>
          <p:txBody>
            <a:bodyPr spcFirstLastPara="1" wrap="square" lIns="68575" tIns="68575" rIns="68575" bIns="68575"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GB" sz="2000" b="0" i="0" u="none" strike="noStrike" cap="none" dirty="0">
                  <a:solidFill>
                    <a:schemeClr val="tx1"/>
                  </a:solidFill>
                  <a:latin typeface="Calibri"/>
                  <a:ea typeface="Calibri"/>
                  <a:cs typeface="Calibri"/>
                  <a:sym typeface="Calibri"/>
                </a:rPr>
                <a:t>2013/2014: Equal marriage is passed in England and Wales.</a:t>
              </a:r>
              <a:endParaRPr sz="1600" dirty="0">
                <a:solidFill>
                  <a:schemeClr val="tx1"/>
                </a:solidFil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9"/>
        <p:cNvGrpSpPr/>
        <p:nvPr/>
      </p:nvGrpSpPr>
      <p:grpSpPr>
        <a:xfrm>
          <a:off x="0" y="0"/>
          <a:ext cx="0" cy="0"/>
          <a:chOff x="0" y="0"/>
          <a:chExt cx="0" cy="0"/>
        </a:xfrm>
      </p:grpSpPr>
      <p:sp useBgFill="1">
        <p:nvSpPr>
          <p:cNvPr id="143" name="Rectangle 8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44" name="Rectangle 8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5" name="Rectangle 8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0" name="Google Shape;140;p17"/>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Why do we need allies training?</a:t>
            </a:r>
            <a:endParaRPr lang="en-GB" sz="4000" dirty="0"/>
          </a:p>
        </p:txBody>
      </p:sp>
      <p:sp>
        <p:nvSpPr>
          <p:cNvPr id="146" name="Rectangle 8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41" name="Google Shape;141;p17"/>
          <p:cNvSpPr txBox="1">
            <a:spLocks noGrp="1"/>
          </p:cNvSpPr>
          <p:nvPr>
            <p:ph type="body" idx="1"/>
          </p:nvPr>
        </p:nvSpPr>
        <p:spPr>
          <a:xfrm>
            <a:off x="558209" y="2276856"/>
            <a:ext cx="11164399" cy="4032504"/>
          </a:xfrm>
          <a:prstGeom prst="rect">
            <a:avLst/>
          </a:prstGeom>
        </p:spPr>
        <p:txBody>
          <a:bodyPr spcFirstLastPara="1" lIns="91425" tIns="45700" rIns="91425" bIns="45700" anchorCtr="0">
            <a:normAutofit/>
          </a:bodyPr>
          <a:lstStyle/>
          <a:p>
            <a:pPr marL="0" lvl="0" indent="0" rtl="0">
              <a:spcBef>
                <a:spcPts val="0"/>
              </a:spcBef>
              <a:spcAft>
                <a:spcPts val="600"/>
              </a:spcAft>
              <a:buClr>
                <a:schemeClr val="dk1"/>
              </a:buClr>
              <a:buSzPts val="2590"/>
              <a:buNone/>
            </a:pPr>
            <a:r>
              <a:rPr lang="en-GB" sz="2600" dirty="0"/>
              <a:t>According to LGBT+ equality group Stonewall:</a:t>
            </a:r>
          </a:p>
          <a:p>
            <a:pPr marL="228600" lvl="0" indent="-228600" rtl="0">
              <a:spcBef>
                <a:spcPts val="1000"/>
              </a:spcBef>
              <a:spcAft>
                <a:spcPts val="600"/>
              </a:spcAft>
              <a:buClr>
                <a:schemeClr val="dk1"/>
              </a:buClr>
              <a:buSzPts val="2590"/>
              <a:buChar char="•"/>
            </a:pPr>
            <a:r>
              <a:rPr lang="en-GB" sz="2600" dirty="0"/>
              <a:t>35% of LGBT+ staff have hidden that they are LGBT+ at work for fear of discrimination. </a:t>
            </a:r>
          </a:p>
          <a:p>
            <a:pPr marL="228600" lvl="0" indent="-228600" rtl="0">
              <a:spcBef>
                <a:spcPts val="1000"/>
              </a:spcBef>
              <a:spcAft>
                <a:spcPts val="600"/>
              </a:spcAft>
              <a:buClr>
                <a:schemeClr val="dk1"/>
              </a:buClr>
              <a:buSzPts val="2590"/>
              <a:buChar char="•"/>
            </a:pPr>
            <a:r>
              <a:rPr lang="en-GB" sz="2600" dirty="0"/>
              <a:t>10% of black, Asian and minority ethnic LGBT+ employees have been physically attacked by customers or colleagues in the last year.</a:t>
            </a:r>
          </a:p>
          <a:p>
            <a:pPr marL="228600" lvl="0" indent="-228600" rtl="0">
              <a:spcBef>
                <a:spcPts val="1000"/>
              </a:spcBef>
              <a:spcAft>
                <a:spcPts val="600"/>
              </a:spcAft>
              <a:buClr>
                <a:schemeClr val="dk1"/>
              </a:buClr>
              <a:buSzPts val="2590"/>
              <a:buChar char="•"/>
            </a:pPr>
            <a:r>
              <a:rPr lang="en-GB" sz="2600" dirty="0"/>
              <a:t>38% of bi people aren’t out to anyone at work.</a:t>
            </a:r>
          </a:p>
          <a:p>
            <a:pPr marL="228600" lvl="0" indent="-228600" rtl="0">
              <a:spcBef>
                <a:spcPts val="1000"/>
              </a:spcBef>
              <a:spcAft>
                <a:spcPts val="600"/>
              </a:spcAft>
              <a:buClr>
                <a:schemeClr val="dk1"/>
              </a:buClr>
              <a:buSzPts val="2590"/>
              <a:buChar char="•"/>
            </a:pPr>
            <a:r>
              <a:rPr lang="en-GB" sz="2600" dirty="0"/>
              <a:t>12% of trans people have been physically attacked by customers or colleagues in the last year due to being trans.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57"/>
        <p:cNvGrpSpPr/>
        <p:nvPr/>
      </p:nvGrpSpPr>
      <p:grpSpPr>
        <a:xfrm>
          <a:off x="0" y="0"/>
          <a:ext cx="0" cy="0"/>
          <a:chOff x="0" y="0"/>
          <a:chExt cx="0" cy="0"/>
        </a:xfrm>
      </p:grpSpPr>
      <p:sp useBgFill="1">
        <p:nvSpPr>
          <p:cNvPr id="137" name="Rectangle 136">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9" name="Rectangle 138">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41" name="Rectangle 140">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8" name="Google Shape;158;p20"/>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Legal obligation</a:t>
            </a:r>
            <a:endParaRPr lang="en-GB" sz="4000" dirty="0"/>
          </a:p>
        </p:txBody>
      </p:sp>
      <p:sp>
        <p:nvSpPr>
          <p:cNvPr id="143" name="Rectangle 142">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098" name="Picture 2" descr="Image result for equality act 2010">
            <a:extLst>
              <a:ext uri="{FF2B5EF4-FFF2-40B4-BE49-F238E27FC236}">
                <a16:creationId xmlns:a16="http://schemas.microsoft.com/office/drawing/2014/main" id="{493A7BF9-88C4-4C2A-B448-FA7314BB284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50" r="2" b="2"/>
          <a:stretch/>
        </p:blipFill>
        <p:spPr bwMode="auto">
          <a:xfrm>
            <a:off x="732199" y="2917966"/>
            <a:ext cx="4289212" cy="2636520"/>
          </a:xfrm>
          <a:prstGeom prst="rect">
            <a:avLst/>
          </a:prstGeom>
          <a:noFill/>
          <a:extLst>
            <a:ext uri="{909E8E84-426E-40DD-AFC4-6F175D3DCCD1}">
              <a14:hiddenFill xmlns:a14="http://schemas.microsoft.com/office/drawing/2010/main">
                <a:solidFill>
                  <a:srgbClr val="FFFFFF"/>
                </a:solidFill>
              </a14:hiddenFill>
            </a:ext>
          </a:extLst>
        </p:spPr>
      </p:pic>
      <p:sp>
        <p:nvSpPr>
          <p:cNvPr id="159" name="Google Shape;159;p20"/>
          <p:cNvSpPr txBox="1">
            <a:spLocks noGrp="1"/>
          </p:cNvSpPr>
          <p:nvPr>
            <p:ph type="body" idx="1"/>
          </p:nvPr>
        </p:nvSpPr>
        <p:spPr>
          <a:xfrm>
            <a:off x="5188373" y="2478024"/>
            <a:ext cx="6095323" cy="3694176"/>
          </a:xfrm>
          <a:prstGeom prst="rect">
            <a:avLst/>
          </a:prstGeom>
        </p:spPr>
        <p:txBody>
          <a:bodyPr spcFirstLastPara="1" lIns="91425" tIns="45700" rIns="91425" bIns="45700" anchor="ctr" anchorCtr="0">
            <a:normAutofit/>
          </a:bodyPr>
          <a:lstStyle/>
          <a:p>
            <a:pPr marL="0" lvl="0" indent="0" rtl="0">
              <a:spcBef>
                <a:spcPts val="0"/>
              </a:spcBef>
              <a:spcAft>
                <a:spcPts val="0"/>
              </a:spcAft>
              <a:buClr>
                <a:schemeClr val="dk1"/>
              </a:buClr>
              <a:buSzPts val="2380"/>
              <a:buNone/>
            </a:pPr>
            <a:r>
              <a:rPr lang="en-GB" sz="3200" dirty="0"/>
              <a:t>Among other things, the Equality Act 2010 outlaws:</a:t>
            </a:r>
          </a:p>
          <a:p>
            <a:pPr marL="228600" lvl="0" indent="-228600" rtl="0">
              <a:spcBef>
                <a:spcPts val="1000"/>
              </a:spcBef>
              <a:spcAft>
                <a:spcPts val="0"/>
              </a:spcAft>
              <a:buClr>
                <a:schemeClr val="dk1"/>
              </a:buClr>
              <a:buSzPts val="2380"/>
              <a:buChar char="•"/>
            </a:pPr>
            <a:r>
              <a:rPr lang="en-GB" sz="3200" dirty="0"/>
              <a:t>Direct discrimination </a:t>
            </a:r>
          </a:p>
          <a:p>
            <a:pPr marL="228600" lvl="0" indent="-228600" rtl="0">
              <a:spcBef>
                <a:spcPts val="1000"/>
              </a:spcBef>
              <a:spcAft>
                <a:spcPts val="0"/>
              </a:spcAft>
              <a:buClr>
                <a:schemeClr val="dk1"/>
              </a:buClr>
              <a:buSzPts val="2380"/>
              <a:buChar char="•"/>
            </a:pPr>
            <a:r>
              <a:rPr lang="en-GB" sz="3200" dirty="0"/>
              <a:t>Indirect discrimination</a:t>
            </a:r>
          </a:p>
          <a:p>
            <a:pPr marL="228600" lvl="0" indent="-228600" rtl="0">
              <a:spcBef>
                <a:spcPts val="1000"/>
              </a:spcBef>
              <a:spcAft>
                <a:spcPts val="0"/>
              </a:spcAft>
              <a:buClr>
                <a:schemeClr val="dk1"/>
              </a:buClr>
              <a:buSzPts val="2380"/>
              <a:buChar char="•"/>
            </a:pPr>
            <a:r>
              <a:rPr lang="en-GB" sz="3200" dirty="0"/>
              <a:t>Harassment </a:t>
            </a:r>
          </a:p>
          <a:p>
            <a:pPr marL="228600" lvl="0" indent="-228600" rtl="0">
              <a:spcBef>
                <a:spcPts val="1000"/>
              </a:spcBef>
              <a:spcAft>
                <a:spcPts val="0"/>
              </a:spcAft>
              <a:buClr>
                <a:schemeClr val="dk1"/>
              </a:buClr>
              <a:buSzPts val="2380"/>
              <a:buChar char="•"/>
            </a:pPr>
            <a:r>
              <a:rPr lang="en-GB" sz="3200" dirty="0"/>
              <a:t>Victimisation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63"/>
        <p:cNvGrpSpPr/>
        <p:nvPr/>
      </p:nvGrpSpPr>
      <p:grpSpPr>
        <a:xfrm>
          <a:off x="0" y="0"/>
          <a:ext cx="0" cy="0"/>
          <a:chOff x="0" y="0"/>
          <a:chExt cx="0" cy="0"/>
        </a:xfrm>
      </p:grpSpPr>
      <p:sp useBgFill="1">
        <p:nvSpPr>
          <p:cNvPr id="106" name="Rectangle 105">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8" name="Rectangle 107">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10" name="Rectangle 109">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4" name="Google Shape;164;p21"/>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The Business Case</a:t>
            </a:r>
            <a:endParaRPr lang="en-GB" sz="4000" dirty="0"/>
          </a:p>
        </p:txBody>
      </p:sp>
      <p:sp>
        <p:nvSpPr>
          <p:cNvPr id="112" name="Rectangle 111">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65" name="Google Shape;165;p21"/>
          <p:cNvSpPr txBox="1">
            <a:spLocks noGrp="1"/>
          </p:cNvSpPr>
          <p:nvPr>
            <p:ph type="body" idx="1"/>
          </p:nvPr>
        </p:nvSpPr>
        <p:spPr>
          <a:xfrm>
            <a:off x="566928" y="2481943"/>
            <a:ext cx="10716768" cy="3695020"/>
          </a:xfrm>
          <a:prstGeom prst="rect">
            <a:avLst/>
          </a:prstGeom>
        </p:spPr>
        <p:txBody>
          <a:bodyPr spcFirstLastPara="1" lIns="91425" tIns="45700" rIns="91425" bIns="45700" anchorCtr="0">
            <a:normAutofit/>
          </a:bodyPr>
          <a:lstStyle/>
          <a:p>
            <a:pPr marL="228600" lvl="0" indent="-228600" rtl="0">
              <a:spcBef>
                <a:spcPts val="0"/>
              </a:spcBef>
              <a:spcAft>
                <a:spcPts val="1200"/>
              </a:spcAft>
              <a:buClr>
                <a:schemeClr val="dk1"/>
              </a:buClr>
              <a:buSzPts val="2800"/>
              <a:buChar char="•"/>
            </a:pPr>
            <a:r>
              <a:rPr lang="en-GB" sz="2400" dirty="0"/>
              <a:t>LGBT+ workers are estimated to be 32% more productive when they can be themselves  (Out now Global LGBT 2010 Study).</a:t>
            </a:r>
          </a:p>
          <a:p>
            <a:pPr marL="228600" lvl="0" indent="-228600" rtl="0">
              <a:spcBef>
                <a:spcPts val="1000"/>
              </a:spcBef>
              <a:spcAft>
                <a:spcPts val="1200"/>
              </a:spcAft>
              <a:buClr>
                <a:schemeClr val="dk1"/>
              </a:buClr>
              <a:buSzPts val="2800"/>
              <a:buChar char="•"/>
            </a:pPr>
            <a:r>
              <a:rPr lang="en-GB" sz="2400" dirty="0"/>
              <a:t>An Out Now Global LBGT2020 Study suggests that the UK economy could save around £678m a year if businesses ensure that their policies encourage LGBT+ people to be themselves. </a:t>
            </a:r>
          </a:p>
          <a:p>
            <a:pPr marL="228600" lvl="0" indent="-228600" rtl="0">
              <a:spcBef>
                <a:spcPts val="1000"/>
              </a:spcBef>
              <a:spcAft>
                <a:spcPts val="1200"/>
              </a:spcAft>
              <a:buClr>
                <a:schemeClr val="dk1"/>
              </a:buClr>
              <a:buSzPts val="2800"/>
              <a:buChar char="•"/>
            </a:pPr>
            <a:r>
              <a:rPr lang="en-GB" sz="2400" dirty="0"/>
              <a:t>It's not only the right thing to do to treat people with respect but the study also suggests that LGBT+ staff as well as being more productive are more inclined to stay with the business if they can be themselves.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4. Exercise: Terminology</a:t>
            </a:r>
          </a:p>
        </p:txBody>
      </p:sp>
    </p:spTree>
    <p:extLst>
      <p:ext uri="{BB962C8B-B14F-4D97-AF65-F5344CB8AC3E}">
        <p14:creationId xmlns:p14="http://schemas.microsoft.com/office/powerpoint/2010/main" val="4173681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5"/>
        <p:cNvGrpSpPr/>
        <p:nvPr/>
      </p:nvGrpSpPr>
      <p:grpSpPr>
        <a:xfrm>
          <a:off x="0" y="0"/>
          <a:ext cx="0" cy="0"/>
          <a:chOff x="0" y="0"/>
          <a:chExt cx="0" cy="0"/>
        </a:xfrm>
      </p:grpSpPr>
      <p:sp useBgFill="1">
        <p:nvSpPr>
          <p:cNvPr id="192" name="Rectangle 191">
            <a:extLst>
              <a:ext uri="{FF2B5EF4-FFF2-40B4-BE49-F238E27FC236}">
                <a16:creationId xmlns:a16="http://schemas.microsoft.com/office/drawing/2014/main" id="{E45CA849-654C-4173-AD99-B3A2528275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6" name="Google Shape;176;p23"/>
          <p:cNvSpPr txBox="1">
            <a:spLocks noGrp="1"/>
          </p:cNvSpPr>
          <p:nvPr>
            <p:ph type="title"/>
          </p:nvPr>
        </p:nvSpPr>
        <p:spPr>
          <a:xfrm>
            <a:off x="429768" y="411480"/>
            <a:ext cx="11201400" cy="1106424"/>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3600" b="1" dirty="0"/>
              <a:t>Match up the terminology to the definitions</a:t>
            </a:r>
            <a:endParaRPr lang="en-GB" sz="3600" dirty="0"/>
          </a:p>
        </p:txBody>
      </p:sp>
      <p:sp>
        <p:nvSpPr>
          <p:cNvPr id="193" name="Rectangle 192">
            <a:extLst>
              <a:ext uri="{FF2B5EF4-FFF2-40B4-BE49-F238E27FC236}">
                <a16:creationId xmlns:a16="http://schemas.microsoft.com/office/drawing/2014/main" id="{3E23A947-2D45-4208-AE2B-64948C87A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8793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122" name="Picture 2" descr="Image result for lgbt">
            <a:extLst>
              <a:ext uri="{FF2B5EF4-FFF2-40B4-BE49-F238E27FC236}">
                <a16:creationId xmlns:a16="http://schemas.microsoft.com/office/drawing/2014/main" id="{AC7B6266-106C-4C8E-8EA8-E16AE7CECDA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97"/>
          <a:stretch/>
        </p:blipFill>
        <p:spPr bwMode="auto">
          <a:xfrm>
            <a:off x="429768" y="1721922"/>
            <a:ext cx="6704891" cy="4520559"/>
          </a:xfrm>
          <a:prstGeom prst="rect">
            <a:avLst/>
          </a:prstGeom>
          <a:noFill/>
          <a:extLst>
            <a:ext uri="{909E8E84-426E-40DD-AFC4-6F175D3DCCD1}">
              <a14:hiddenFill xmlns:a14="http://schemas.microsoft.com/office/drawing/2010/main">
                <a:solidFill>
                  <a:srgbClr val="FFFFFF"/>
                </a:solidFill>
              </a14:hiddenFill>
            </a:ext>
          </a:extLst>
        </p:spPr>
      </p:pic>
      <p:sp useBgFill="1">
        <p:nvSpPr>
          <p:cNvPr id="194" name="Rectangle 193">
            <a:extLst>
              <a:ext uri="{FF2B5EF4-FFF2-40B4-BE49-F238E27FC236}">
                <a16:creationId xmlns:a16="http://schemas.microsoft.com/office/drawing/2014/main" id="{E5BBB0F9-6A59-4D02-A9C7-A2D651668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3801" y="1721922"/>
            <a:ext cx="4218432" cy="4520560"/>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7" name="Google Shape;177;p23"/>
          <p:cNvSpPr txBox="1">
            <a:spLocks noGrp="1"/>
          </p:cNvSpPr>
          <p:nvPr>
            <p:ph type="body" idx="1"/>
          </p:nvPr>
        </p:nvSpPr>
        <p:spPr>
          <a:xfrm>
            <a:off x="7938752" y="1721921"/>
            <a:ext cx="3455097" cy="4520559"/>
          </a:xfrm>
          <a:prstGeom prst="rect">
            <a:avLst/>
          </a:prstGeom>
        </p:spPr>
        <p:txBody>
          <a:bodyPr spcFirstLastPara="1" lIns="91425" tIns="45700" rIns="91425" bIns="45700" anchor="ctr" anchorCtr="0">
            <a:normAutofit lnSpcReduction="10000"/>
          </a:bodyPr>
          <a:lstStyle/>
          <a:p>
            <a:pPr marL="228600" lvl="0" indent="-50800" rtl="0">
              <a:spcBef>
                <a:spcPts val="0"/>
              </a:spcBef>
              <a:spcAft>
                <a:spcPts val="600"/>
              </a:spcAft>
              <a:buClr>
                <a:schemeClr val="dk1"/>
              </a:buClr>
              <a:buSzPts val="2800"/>
              <a:buNone/>
            </a:pPr>
            <a:r>
              <a:rPr lang="en-GB" dirty="0"/>
              <a:t>You have 15 minutes to work together and match the terminology to the correct definitions.</a:t>
            </a:r>
          </a:p>
          <a:p>
            <a:pPr marL="228600" lvl="0" indent="-50800" rtl="0">
              <a:spcBef>
                <a:spcPts val="0"/>
              </a:spcBef>
              <a:spcAft>
                <a:spcPts val="600"/>
              </a:spcAft>
              <a:buClr>
                <a:schemeClr val="dk1"/>
              </a:buClr>
              <a:buSzPts val="2800"/>
              <a:buNone/>
            </a:pPr>
            <a:endParaRPr lang="en-GB" dirty="0"/>
          </a:p>
          <a:p>
            <a:pPr marL="228600" lvl="0" indent="-50800" rtl="0">
              <a:spcBef>
                <a:spcPts val="0"/>
              </a:spcBef>
              <a:spcAft>
                <a:spcPts val="600"/>
              </a:spcAft>
              <a:buClr>
                <a:schemeClr val="dk1"/>
              </a:buClr>
              <a:buSzPts val="2800"/>
              <a:buNone/>
            </a:pPr>
            <a:r>
              <a:rPr lang="en-GB" dirty="0"/>
              <a:t>Being informed about the right language to use is a key part of being an ally.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E617B7-01FF-4E96-9C72-A0281D1BF3CD}"/>
              </a:ext>
            </a:extLst>
          </p:cNvPr>
          <p:cNvSpPr>
            <a:spLocks noGrp="1"/>
          </p:cNvSpPr>
          <p:nvPr>
            <p:ph type="title"/>
          </p:nvPr>
        </p:nvSpPr>
        <p:spPr/>
        <p:txBody>
          <a:bodyPr/>
          <a:lstStyle/>
          <a:p>
            <a:r>
              <a:rPr lang="en-GB" sz="4000" b="1" dirty="0"/>
              <a:t>Alternative Slide: How many of these terms can you define?</a:t>
            </a:r>
          </a:p>
        </p:txBody>
      </p:sp>
      <p:sp>
        <p:nvSpPr>
          <p:cNvPr id="5" name="TextBox 4">
            <a:extLst>
              <a:ext uri="{FF2B5EF4-FFF2-40B4-BE49-F238E27FC236}">
                <a16:creationId xmlns:a16="http://schemas.microsoft.com/office/drawing/2014/main" id="{F0B0F0B1-0AE7-42E3-8F66-8A3495394300}"/>
              </a:ext>
            </a:extLst>
          </p:cNvPr>
          <p:cNvSpPr txBox="1"/>
          <p:nvPr/>
        </p:nvSpPr>
        <p:spPr>
          <a:xfrm rot="21224146">
            <a:off x="467263" y="2961158"/>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Ace</a:t>
            </a:r>
          </a:p>
        </p:txBody>
      </p:sp>
      <p:pic>
        <p:nvPicPr>
          <p:cNvPr id="6" name="Picture 2" descr="Rainbow flag.">
            <a:extLst>
              <a:ext uri="{FF2B5EF4-FFF2-40B4-BE49-F238E27FC236}">
                <a16:creationId xmlns:a16="http://schemas.microsoft.com/office/drawing/2014/main" id="{637E3E37-7343-4183-8713-CDCE13F625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997"/>
          <a:stretch/>
        </p:blipFill>
        <p:spPr bwMode="auto">
          <a:xfrm>
            <a:off x="4277562" y="2202976"/>
            <a:ext cx="3636875" cy="245204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FDBFA640-EFF9-468C-802D-33BC133E375A}"/>
              </a:ext>
            </a:extLst>
          </p:cNvPr>
          <p:cNvSpPr txBox="1"/>
          <p:nvPr/>
        </p:nvSpPr>
        <p:spPr>
          <a:xfrm>
            <a:off x="4569968" y="1337997"/>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Bi</a:t>
            </a:r>
          </a:p>
        </p:txBody>
      </p:sp>
      <p:sp>
        <p:nvSpPr>
          <p:cNvPr id="8" name="TextBox 7">
            <a:extLst>
              <a:ext uri="{FF2B5EF4-FFF2-40B4-BE49-F238E27FC236}">
                <a16:creationId xmlns:a16="http://schemas.microsoft.com/office/drawing/2014/main" id="{8AE635D3-9B6E-4C68-8897-56B5D0745C7B}"/>
              </a:ext>
            </a:extLst>
          </p:cNvPr>
          <p:cNvSpPr txBox="1"/>
          <p:nvPr/>
        </p:nvSpPr>
        <p:spPr>
          <a:xfrm rot="21224146">
            <a:off x="8956533" y="1337996"/>
            <a:ext cx="2154211"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Cisgender</a:t>
            </a:r>
          </a:p>
        </p:txBody>
      </p:sp>
      <p:sp>
        <p:nvSpPr>
          <p:cNvPr id="9" name="TextBox 8">
            <a:extLst>
              <a:ext uri="{FF2B5EF4-FFF2-40B4-BE49-F238E27FC236}">
                <a16:creationId xmlns:a16="http://schemas.microsoft.com/office/drawing/2014/main" id="{1BCD9366-46B7-4FF0-BAC5-0208070472CF}"/>
              </a:ext>
            </a:extLst>
          </p:cNvPr>
          <p:cNvSpPr txBox="1"/>
          <p:nvPr/>
        </p:nvSpPr>
        <p:spPr>
          <a:xfrm>
            <a:off x="9376670" y="2563345"/>
            <a:ext cx="2375496"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Deadnaming</a:t>
            </a:r>
          </a:p>
        </p:txBody>
      </p:sp>
      <p:sp>
        <p:nvSpPr>
          <p:cNvPr id="10" name="TextBox 9">
            <a:extLst>
              <a:ext uri="{FF2B5EF4-FFF2-40B4-BE49-F238E27FC236}">
                <a16:creationId xmlns:a16="http://schemas.microsoft.com/office/drawing/2014/main" id="{2746D0D4-3BC5-487B-8775-4809F76EBA6D}"/>
              </a:ext>
            </a:extLst>
          </p:cNvPr>
          <p:cNvSpPr txBox="1"/>
          <p:nvPr/>
        </p:nvSpPr>
        <p:spPr>
          <a:xfrm rot="165981">
            <a:off x="4062779" y="4987328"/>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Gender</a:t>
            </a:r>
          </a:p>
        </p:txBody>
      </p:sp>
      <p:sp>
        <p:nvSpPr>
          <p:cNvPr id="11" name="TextBox 10">
            <a:extLst>
              <a:ext uri="{FF2B5EF4-FFF2-40B4-BE49-F238E27FC236}">
                <a16:creationId xmlns:a16="http://schemas.microsoft.com/office/drawing/2014/main" id="{F44D6796-D8A2-4AF3-B8D8-0200D01A2115}"/>
              </a:ext>
            </a:extLst>
          </p:cNvPr>
          <p:cNvSpPr txBox="1"/>
          <p:nvPr/>
        </p:nvSpPr>
        <p:spPr>
          <a:xfrm rot="21224146">
            <a:off x="7827607" y="5014973"/>
            <a:ext cx="2032266"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Gender dysphoria</a:t>
            </a:r>
          </a:p>
        </p:txBody>
      </p:sp>
      <p:sp>
        <p:nvSpPr>
          <p:cNvPr id="12" name="TextBox 11">
            <a:extLst>
              <a:ext uri="{FF2B5EF4-FFF2-40B4-BE49-F238E27FC236}">
                <a16:creationId xmlns:a16="http://schemas.microsoft.com/office/drawing/2014/main" id="{16C9D06E-8A40-42D5-9CD0-C290E645B249}"/>
              </a:ext>
            </a:extLst>
          </p:cNvPr>
          <p:cNvSpPr txBox="1"/>
          <p:nvPr/>
        </p:nvSpPr>
        <p:spPr>
          <a:xfrm rot="176879">
            <a:off x="850749" y="5835432"/>
            <a:ext cx="3761618"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Gender reassignment</a:t>
            </a:r>
          </a:p>
        </p:txBody>
      </p:sp>
      <p:sp>
        <p:nvSpPr>
          <p:cNvPr id="13" name="TextBox 12">
            <a:extLst>
              <a:ext uri="{FF2B5EF4-FFF2-40B4-BE49-F238E27FC236}">
                <a16:creationId xmlns:a16="http://schemas.microsoft.com/office/drawing/2014/main" id="{CCDC5C63-2BDD-4CE2-8528-4B067E2DA7BC}"/>
              </a:ext>
            </a:extLst>
          </p:cNvPr>
          <p:cNvSpPr txBox="1"/>
          <p:nvPr/>
        </p:nvSpPr>
        <p:spPr>
          <a:xfrm rot="405447">
            <a:off x="2213152" y="3828752"/>
            <a:ext cx="1783988"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Intersex</a:t>
            </a:r>
          </a:p>
        </p:txBody>
      </p:sp>
      <p:sp>
        <p:nvSpPr>
          <p:cNvPr id="14" name="TextBox 13">
            <a:extLst>
              <a:ext uri="{FF2B5EF4-FFF2-40B4-BE49-F238E27FC236}">
                <a16:creationId xmlns:a16="http://schemas.microsoft.com/office/drawing/2014/main" id="{A9DC9EC9-3A65-4272-A752-757B50EEC684}"/>
              </a:ext>
            </a:extLst>
          </p:cNvPr>
          <p:cNvSpPr txBox="1"/>
          <p:nvPr/>
        </p:nvSpPr>
        <p:spPr>
          <a:xfrm rot="21224146">
            <a:off x="10313564" y="3870849"/>
            <a:ext cx="1498600" cy="1077218"/>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Non-binary</a:t>
            </a:r>
          </a:p>
        </p:txBody>
      </p:sp>
      <p:sp>
        <p:nvSpPr>
          <p:cNvPr id="15" name="TextBox 14">
            <a:extLst>
              <a:ext uri="{FF2B5EF4-FFF2-40B4-BE49-F238E27FC236}">
                <a16:creationId xmlns:a16="http://schemas.microsoft.com/office/drawing/2014/main" id="{307F0A34-6D2B-4B16-8D52-4F94648548B8}"/>
              </a:ext>
            </a:extLst>
          </p:cNvPr>
          <p:cNvSpPr txBox="1"/>
          <p:nvPr/>
        </p:nvSpPr>
        <p:spPr>
          <a:xfrm rot="21224146">
            <a:off x="5574111" y="5907462"/>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Pan</a:t>
            </a:r>
          </a:p>
        </p:txBody>
      </p:sp>
      <p:sp>
        <p:nvSpPr>
          <p:cNvPr id="17" name="TextBox 16">
            <a:extLst>
              <a:ext uri="{FF2B5EF4-FFF2-40B4-BE49-F238E27FC236}">
                <a16:creationId xmlns:a16="http://schemas.microsoft.com/office/drawing/2014/main" id="{1729512D-4885-48CA-9B97-E454B04E904C}"/>
              </a:ext>
            </a:extLst>
          </p:cNvPr>
          <p:cNvSpPr txBox="1"/>
          <p:nvPr/>
        </p:nvSpPr>
        <p:spPr>
          <a:xfrm>
            <a:off x="648480" y="1896810"/>
            <a:ext cx="2929769"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Gender identity</a:t>
            </a:r>
          </a:p>
        </p:txBody>
      </p:sp>
      <p:sp>
        <p:nvSpPr>
          <p:cNvPr id="18" name="TextBox 17">
            <a:extLst>
              <a:ext uri="{FF2B5EF4-FFF2-40B4-BE49-F238E27FC236}">
                <a16:creationId xmlns:a16="http://schemas.microsoft.com/office/drawing/2014/main" id="{F8ACE0F5-91B4-4418-8EBA-F3C6A9EC8CD3}"/>
              </a:ext>
            </a:extLst>
          </p:cNvPr>
          <p:cNvSpPr txBox="1"/>
          <p:nvPr/>
        </p:nvSpPr>
        <p:spPr>
          <a:xfrm rot="373638">
            <a:off x="6836483" y="1282045"/>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Passing</a:t>
            </a:r>
          </a:p>
        </p:txBody>
      </p:sp>
      <p:sp>
        <p:nvSpPr>
          <p:cNvPr id="19" name="TextBox 18">
            <a:extLst>
              <a:ext uri="{FF2B5EF4-FFF2-40B4-BE49-F238E27FC236}">
                <a16:creationId xmlns:a16="http://schemas.microsoft.com/office/drawing/2014/main" id="{5EE77F4D-13CA-4D0E-9C0A-AA51AECE83EE}"/>
              </a:ext>
            </a:extLst>
          </p:cNvPr>
          <p:cNvSpPr txBox="1"/>
          <p:nvPr/>
        </p:nvSpPr>
        <p:spPr>
          <a:xfrm rot="21224146">
            <a:off x="471137" y="4517047"/>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Queer</a:t>
            </a:r>
          </a:p>
        </p:txBody>
      </p:sp>
      <p:sp>
        <p:nvSpPr>
          <p:cNvPr id="20" name="TextBox 19">
            <a:extLst>
              <a:ext uri="{FF2B5EF4-FFF2-40B4-BE49-F238E27FC236}">
                <a16:creationId xmlns:a16="http://schemas.microsoft.com/office/drawing/2014/main" id="{8E74F13C-755A-46B7-9F20-EB540615E7D9}"/>
              </a:ext>
            </a:extLst>
          </p:cNvPr>
          <p:cNvSpPr txBox="1"/>
          <p:nvPr/>
        </p:nvSpPr>
        <p:spPr>
          <a:xfrm>
            <a:off x="10313564" y="5746645"/>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Sex</a:t>
            </a:r>
          </a:p>
        </p:txBody>
      </p:sp>
      <p:sp>
        <p:nvSpPr>
          <p:cNvPr id="21" name="TextBox 20">
            <a:extLst>
              <a:ext uri="{FF2B5EF4-FFF2-40B4-BE49-F238E27FC236}">
                <a16:creationId xmlns:a16="http://schemas.microsoft.com/office/drawing/2014/main" id="{5ADAD26C-5025-45D0-BED3-EF74B9296711}"/>
              </a:ext>
            </a:extLst>
          </p:cNvPr>
          <p:cNvSpPr txBox="1"/>
          <p:nvPr/>
        </p:nvSpPr>
        <p:spPr>
          <a:xfrm rot="336165">
            <a:off x="8305994" y="3752926"/>
            <a:ext cx="1498600" cy="58477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3200" dirty="0">
                <a:latin typeface="Calibri" panose="020F0502020204030204" pitchFamily="34" charset="0"/>
                <a:cs typeface="Calibri" panose="020F0502020204030204" pitchFamily="34" charset="0"/>
              </a:rPr>
              <a:t>Trans</a:t>
            </a:r>
          </a:p>
        </p:txBody>
      </p:sp>
    </p:spTree>
    <p:extLst>
      <p:ext uri="{BB962C8B-B14F-4D97-AF65-F5344CB8AC3E}">
        <p14:creationId xmlns:p14="http://schemas.microsoft.com/office/powerpoint/2010/main" val="19111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912DB-D7DF-45B0-924A-3DBD7040DF0E}"/>
              </a:ext>
            </a:extLst>
          </p:cNvPr>
          <p:cNvSpPr>
            <a:spLocks noGrp="1"/>
          </p:cNvSpPr>
          <p:nvPr>
            <p:ph type="title"/>
          </p:nvPr>
        </p:nvSpPr>
        <p:spPr>
          <a:xfrm>
            <a:off x="1115568" y="548640"/>
            <a:ext cx="10168128" cy="1179576"/>
          </a:xfrm>
        </p:spPr>
        <p:txBody>
          <a:bodyPr>
            <a:normAutofit/>
          </a:bodyPr>
          <a:lstStyle/>
          <a:p>
            <a:r>
              <a:rPr lang="en-GB" sz="4000" b="1" dirty="0"/>
              <a:t>Key Terminology</a:t>
            </a:r>
          </a:p>
        </p:txBody>
      </p:sp>
      <p:pic>
        <p:nvPicPr>
          <p:cNvPr id="17" name="Google Shape;97;p14">
            <a:extLst>
              <a:ext uri="{FF2B5EF4-FFF2-40B4-BE49-F238E27FC236}">
                <a16:creationId xmlns:a16="http://schemas.microsoft.com/office/drawing/2014/main" id="{6AE781B4-E8BB-4E9D-BA0D-682A0CEBBF15}"/>
              </a:ex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4940070" y="2241485"/>
            <a:ext cx="2311860" cy="4401820"/>
          </a:xfrm>
          <a:prstGeom prst="rect">
            <a:avLst/>
          </a:prstGeom>
          <a:noFill/>
          <a:ln>
            <a:noFill/>
          </a:ln>
        </p:spPr>
      </p:pic>
      <p:cxnSp>
        <p:nvCxnSpPr>
          <p:cNvPr id="18" name="Google Shape;101;p14">
            <a:extLst>
              <a:ext uri="{FF2B5EF4-FFF2-40B4-BE49-F238E27FC236}">
                <a16:creationId xmlns:a16="http://schemas.microsoft.com/office/drawing/2014/main" id="{5511EA9F-B3AE-474D-BA16-E53091A7F04F}"/>
              </a:ext>
              <a:ext uri="{C183D7F6-B498-43B3-948B-1728B52AA6E4}">
                <adec:decorative xmlns:adec="http://schemas.microsoft.com/office/drawing/2017/decorative" val="1"/>
              </a:ext>
            </a:extLst>
          </p:cNvPr>
          <p:cNvCxnSpPr>
            <a:cxnSpLocks/>
          </p:cNvCxnSpPr>
          <p:nvPr/>
        </p:nvCxnSpPr>
        <p:spPr>
          <a:xfrm flipV="1">
            <a:off x="4745453" y="3171226"/>
            <a:ext cx="817018" cy="1476900"/>
          </a:xfrm>
          <a:prstGeom prst="straightConnector1">
            <a:avLst/>
          </a:prstGeom>
          <a:noFill/>
          <a:ln w="38100" cap="flat" cmpd="sng">
            <a:solidFill>
              <a:srgbClr val="953734"/>
            </a:solidFill>
            <a:prstDash val="lgDash"/>
            <a:round/>
            <a:headEnd type="none" w="sm" len="sm"/>
            <a:tailEnd type="none" w="sm" len="sm"/>
          </a:ln>
          <a:effectLst>
            <a:outerShdw blurRad="40000" dist="20000" dir="5400000" rotWithShape="0">
              <a:srgbClr val="000000">
                <a:alpha val="37647"/>
              </a:srgbClr>
            </a:outerShdw>
          </a:effectLst>
        </p:spPr>
      </p:cxnSp>
      <p:cxnSp>
        <p:nvCxnSpPr>
          <p:cNvPr id="19" name="Google Shape;102;p14">
            <a:extLst>
              <a:ext uri="{FF2B5EF4-FFF2-40B4-BE49-F238E27FC236}">
                <a16:creationId xmlns:a16="http://schemas.microsoft.com/office/drawing/2014/main" id="{CC898814-E671-409C-B98D-7BA1038656DB}"/>
              </a:ext>
              <a:ext uri="{C183D7F6-B498-43B3-948B-1728B52AA6E4}">
                <adec:decorative xmlns:adec="http://schemas.microsoft.com/office/drawing/2017/decorative" val="1"/>
              </a:ext>
            </a:extLst>
          </p:cNvPr>
          <p:cNvCxnSpPr>
            <a:cxnSpLocks/>
          </p:cNvCxnSpPr>
          <p:nvPr/>
        </p:nvCxnSpPr>
        <p:spPr>
          <a:xfrm>
            <a:off x="5413124" y="4651169"/>
            <a:ext cx="0" cy="1992136"/>
          </a:xfrm>
          <a:prstGeom prst="straightConnector1">
            <a:avLst/>
          </a:prstGeom>
          <a:noFill/>
          <a:ln w="38100" cap="flat" cmpd="sng">
            <a:solidFill>
              <a:srgbClr val="953734"/>
            </a:solidFill>
            <a:prstDash val="lgDash"/>
            <a:round/>
            <a:headEnd type="none" w="sm" len="sm"/>
            <a:tailEnd type="none" w="sm" len="sm"/>
          </a:ln>
          <a:effectLst>
            <a:outerShdw blurRad="40000" dist="20000" dir="5400000" rotWithShape="0">
              <a:srgbClr val="000000">
                <a:alpha val="37647"/>
              </a:srgbClr>
            </a:outerShdw>
          </a:effectLst>
        </p:spPr>
      </p:cxnSp>
      <p:pic>
        <p:nvPicPr>
          <p:cNvPr id="20" name="Google Shape;104;p14">
            <a:extLst>
              <a:ext uri="{FF2B5EF4-FFF2-40B4-BE49-F238E27FC236}">
                <a16:creationId xmlns:a16="http://schemas.microsoft.com/office/drawing/2014/main" id="{C4592257-66C1-4534-84EB-8FA91EA9B959}"/>
              </a:ext>
              <a:ext uri="{C183D7F6-B498-43B3-948B-1728B52AA6E4}">
                <adec:decorative xmlns:adec="http://schemas.microsoft.com/office/drawing/2017/decorative" val="1"/>
              </a:ext>
            </a:extLst>
          </p:cNvPr>
          <p:cNvPicPr preferRelativeResize="0"/>
          <p:nvPr/>
        </p:nvPicPr>
        <p:blipFill rotWithShape="1">
          <a:blip r:embed="rId4">
            <a:alphaModFix/>
          </a:blip>
          <a:srcRect/>
          <a:stretch/>
        </p:blipFill>
        <p:spPr>
          <a:xfrm>
            <a:off x="5879268" y="4733141"/>
            <a:ext cx="502859" cy="451376"/>
          </a:xfrm>
          <a:prstGeom prst="rect">
            <a:avLst/>
          </a:prstGeom>
          <a:noFill/>
          <a:ln>
            <a:noFill/>
          </a:ln>
        </p:spPr>
      </p:pic>
      <p:pic>
        <p:nvPicPr>
          <p:cNvPr id="21" name="Google Shape;106;p14">
            <a:extLst>
              <a:ext uri="{FF2B5EF4-FFF2-40B4-BE49-F238E27FC236}">
                <a16:creationId xmlns:a16="http://schemas.microsoft.com/office/drawing/2014/main" id="{B87138A1-C21B-4B17-ADEC-7581EDAFBC2E}"/>
              </a:ext>
              <a:ext uri="{C183D7F6-B498-43B3-948B-1728B52AA6E4}">
                <adec:decorative xmlns:adec="http://schemas.microsoft.com/office/drawing/2017/decorative" val="1"/>
              </a:ext>
            </a:extLst>
          </p:cNvPr>
          <p:cNvPicPr preferRelativeResize="0"/>
          <p:nvPr/>
        </p:nvPicPr>
        <p:blipFill rotWithShape="1">
          <a:blip r:embed="rId5">
            <a:alphaModFix/>
          </a:blip>
          <a:srcRect/>
          <a:stretch/>
        </p:blipFill>
        <p:spPr>
          <a:xfrm>
            <a:off x="5843582" y="2405217"/>
            <a:ext cx="572757" cy="626137"/>
          </a:xfrm>
          <a:prstGeom prst="rect">
            <a:avLst/>
          </a:prstGeom>
          <a:noFill/>
          <a:ln>
            <a:noFill/>
          </a:ln>
        </p:spPr>
      </p:pic>
      <p:pic>
        <p:nvPicPr>
          <p:cNvPr id="22" name="Google Shape;134;p16">
            <a:extLst>
              <a:ext uri="{FF2B5EF4-FFF2-40B4-BE49-F238E27FC236}">
                <a16:creationId xmlns:a16="http://schemas.microsoft.com/office/drawing/2014/main" id="{37137688-0C0D-4206-90FA-1FCC8AC01C99}"/>
              </a:ext>
              <a:ext uri="{C183D7F6-B498-43B3-948B-1728B52AA6E4}">
                <adec:decorative xmlns:adec="http://schemas.microsoft.com/office/drawing/2017/decorative" val="1"/>
              </a:ext>
            </a:extLst>
          </p:cNvPr>
          <p:cNvPicPr preferRelativeResize="0"/>
          <p:nvPr/>
        </p:nvPicPr>
        <p:blipFill rotWithShape="1">
          <a:blip r:embed="rId6">
            <a:alphaModFix/>
          </a:blip>
          <a:srcRect/>
          <a:stretch/>
        </p:blipFill>
        <p:spPr>
          <a:xfrm>
            <a:off x="5757088" y="3457231"/>
            <a:ext cx="642515" cy="571633"/>
          </a:xfrm>
          <a:prstGeom prst="rect">
            <a:avLst/>
          </a:prstGeom>
          <a:noFill/>
          <a:ln>
            <a:noFill/>
          </a:ln>
        </p:spPr>
      </p:pic>
      <p:sp>
        <p:nvSpPr>
          <p:cNvPr id="23" name="Google Shape;103;p14">
            <a:extLst>
              <a:ext uri="{FF2B5EF4-FFF2-40B4-BE49-F238E27FC236}">
                <a16:creationId xmlns:a16="http://schemas.microsoft.com/office/drawing/2014/main" id="{428D11B7-2771-4A76-88DB-5B9D5B8166D9}"/>
              </a:ext>
              <a:ext uri="{C183D7F6-B498-43B3-948B-1728B52AA6E4}">
                <adec:decorative xmlns:adec="http://schemas.microsoft.com/office/drawing/2017/decorative" val="1"/>
              </a:ext>
            </a:extLst>
          </p:cNvPr>
          <p:cNvSpPr/>
          <p:nvPr/>
        </p:nvSpPr>
        <p:spPr>
          <a:xfrm>
            <a:off x="4748933" y="4724566"/>
            <a:ext cx="616213" cy="213375"/>
          </a:xfrm>
          <a:custGeom>
            <a:avLst/>
            <a:gdLst/>
            <a:ahLst/>
            <a:cxnLst/>
            <a:rect l="l" t="t" r="r" b="b"/>
            <a:pathLst>
              <a:path w="826471" h="493171" extrusionOk="0">
                <a:moveTo>
                  <a:pt x="25192" y="63151"/>
                </a:moveTo>
                <a:cubicBezTo>
                  <a:pt x="126" y="154390"/>
                  <a:pt x="-24940" y="245630"/>
                  <a:pt x="49255" y="315814"/>
                </a:cubicBezTo>
                <a:cubicBezTo>
                  <a:pt x="123450" y="385998"/>
                  <a:pt x="346034" y="530377"/>
                  <a:pt x="470360" y="484256"/>
                </a:cubicBezTo>
                <a:cubicBezTo>
                  <a:pt x="594686" y="438135"/>
                  <a:pt x="741071" y="111277"/>
                  <a:pt x="795213" y="39088"/>
                </a:cubicBezTo>
                <a:cubicBezTo>
                  <a:pt x="849355" y="-33101"/>
                  <a:pt x="822284" y="9009"/>
                  <a:pt x="795213" y="51119"/>
                </a:cubicBezTo>
              </a:path>
            </a:pathLst>
          </a:custGeom>
          <a:noFill/>
          <a:ln w="38100" cap="flat" cmpd="sng">
            <a:solidFill>
              <a:srgbClr val="953734"/>
            </a:solidFill>
            <a:prstDash val="lgDash"/>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endParaRPr sz="1800" dirty="0">
              <a:solidFill>
                <a:schemeClr val="lt1"/>
              </a:solidFill>
              <a:latin typeface="Calibri"/>
              <a:ea typeface="Calibri"/>
              <a:cs typeface="Calibri"/>
              <a:sym typeface="Calibri"/>
            </a:endParaRPr>
          </a:p>
        </p:txBody>
      </p:sp>
      <p:sp>
        <p:nvSpPr>
          <p:cNvPr id="24" name="Google Shape;100;p14">
            <a:extLst>
              <a:ext uri="{FF2B5EF4-FFF2-40B4-BE49-F238E27FC236}">
                <a16:creationId xmlns:a16="http://schemas.microsoft.com/office/drawing/2014/main" id="{6C39984A-AF2C-498B-BC22-E5BD1056181A}"/>
              </a:ext>
            </a:extLst>
          </p:cNvPr>
          <p:cNvSpPr txBox="1"/>
          <p:nvPr/>
        </p:nvSpPr>
        <p:spPr>
          <a:xfrm>
            <a:off x="387800" y="1692379"/>
            <a:ext cx="4203065" cy="1594297"/>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noAutofit/>
          </a:bodyPr>
          <a:lstStyle/>
          <a:p>
            <a:r>
              <a:rPr lang="en-GB" sz="2200" b="1" dirty="0">
                <a:solidFill>
                  <a:srgbClr val="002B5C"/>
                </a:solidFill>
                <a:latin typeface="Calibri" panose="020F0502020204030204" pitchFamily="34" charset="0"/>
                <a:ea typeface="Gill Sans"/>
                <a:cs typeface="Calibri" panose="020F0502020204030204" pitchFamily="34" charset="0"/>
                <a:sym typeface="Gill Sans"/>
              </a:rPr>
              <a:t>Gender Identity:</a:t>
            </a:r>
            <a:endParaRPr sz="2200" dirty="0">
              <a:latin typeface="Calibri" panose="020F0502020204030204" pitchFamily="34" charset="0"/>
              <a:cs typeface="Calibri" panose="020F0502020204030204" pitchFamily="34" charset="0"/>
            </a:endParaRPr>
          </a:p>
          <a:p>
            <a:r>
              <a:rPr lang="en-GB" sz="2200" dirty="0">
                <a:solidFill>
                  <a:schemeClr val="dk1"/>
                </a:solidFill>
                <a:latin typeface="Calibri" panose="020F0502020204030204" pitchFamily="34" charset="0"/>
                <a:ea typeface="Gill Sans"/>
                <a:cs typeface="Calibri" panose="020F0502020204030204" pitchFamily="34" charset="0"/>
                <a:sym typeface="Gill Sans"/>
              </a:rPr>
              <a:t>How people interpret and view themselves, within the context of wider society and culture.</a:t>
            </a:r>
            <a:endParaRPr sz="2200" dirty="0">
              <a:latin typeface="Calibri" panose="020F0502020204030204" pitchFamily="34" charset="0"/>
              <a:cs typeface="Calibri" panose="020F0502020204030204" pitchFamily="34" charset="0"/>
            </a:endParaRPr>
          </a:p>
        </p:txBody>
      </p:sp>
      <p:cxnSp>
        <p:nvCxnSpPr>
          <p:cNvPr id="25" name="Google Shape;107;p14">
            <a:extLst>
              <a:ext uri="{FF2B5EF4-FFF2-40B4-BE49-F238E27FC236}">
                <a16:creationId xmlns:a16="http://schemas.microsoft.com/office/drawing/2014/main" id="{D8B22F6B-A8BE-40E4-A067-91C9F0B61066}"/>
              </a:ext>
              <a:ext uri="{C183D7F6-B498-43B3-948B-1728B52AA6E4}">
                <adec:decorative xmlns:adec="http://schemas.microsoft.com/office/drawing/2017/decorative" val="1"/>
              </a:ext>
            </a:extLst>
          </p:cNvPr>
          <p:cNvCxnSpPr>
            <a:cxnSpLocks/>
          </p:cNvCxnSpPr>
          <p:nvPr/>
        </p:nvCxnSpPr>
        <p:spPr>
          <a:xfrm>
            <a:off x="4607396" y="2489528"/>
            <a:ext cx="1177580" cy="99938"/>
          </a:xfrm>
          <a:prstGeom prst="straightConnector1">
            <a:avLst/>
          </a:prstGeom>
          <a:noFill/>
          <a:ln w="25400" cap="flat" cmpd="sng">
            <a:solidFill>
              <a:srgbClr val="002B5C"/>
            </a:solidFill>
            <a:prstDash val="solid"/>
            <a:round/>
            <a:headEnd type="none" w="sm" len="sm"/>
            <a:tailEnd type="triangle" w="med" len="med"/>
          </a:ln>
          <a:effectLst>
            <a:outerShdw blurRad="40000" dist="20000" dir="5400000" rotWithShape="0">
              <a:srgbClr val="000000">
                <a:alpha val="37647"/>
              </a:srgbClr>
            </a:outerShdw>
          </a:effectLst>
        </p:spPr>
      </p:cxnSp>
      <p:sp>
        <p:nvSpPr>
          <p:cNvPr id="29" name="Google Shape;98;p14">
            <a:extLst>
              <a:ext uri="{FF2B5EF4-FFF2-40B4-BE49-F238E27FC236}">
                <a16:creationId xmlns:a16="http://schemas.microsoft.com/office/drawing/2014/main" id="{99D17956-5D4A-43D9-BBF6-8E5CECDB01DE}"/>
              </a:ext>
            </a:extLst>
          </p:cNvPr>
          <p:cNvSpPr txBox="1"/>
          <p:nvPr/>
        </p:nvSpPr>
        <p:spPr>
          <a:xfrm>
            <a:off x="382989" y="3743048"/>
            <a:ext cx="3658361" cy="2407140"/>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noAutofit/>
          </a:bodyPr>
          <a:lstStyle/>
          <a:p>
            <a:r>
              <a:rPr lang="en-GB" sz="2200" b="1" dirty="0">
                <a:solidFill>
                  <a:srgbClr val="002B5C"/>
                </a:solidFill>
                <a:latin typeface="Calibri" panose="020F0502020204030204" pitchFamily="34" charset="0"/>
                <a:ea typeface="Gill Sans"/>
                <a:cs typeface="Calibri" panose="020F0502020204030204" pitchFamily="34" charset="0"/>
                <a:sym typeface="Gill Sans"/>
              </a:rPr>
              <a:t>Gender Expression:</a:t>
            </a:r>
            <a:endParaRPr sz="2200" dirty="0">
              <a:latin typeface="Calibri" panose="020F0502020204030204" pitchFamily="34" charset="0"/>
              <a:cs typeface="Calibri" panose="020F0502020204030204" pitchFamily="34" charset="0"/>
            </a:endParaRPr>
          </a:p>
          <a:p>
            <a:r>
              <a:rPr lang="en-GB" sz="2200" dirty="0">
                <a:solidFill>
                  <a:schemeClr val="dk1"/>
                </a:solidFill>
                <a:latin typeface="Calibri" panose="020F0502020204030204" pitchFamily="34" charset="0"/>
                <a:ea typeface="Gill Sans"/>
                <a:cs typeface="Calibri" panose="020F0502020204030204" pitchFamily="34" charset="0"/>
                <a:sym typeface="Gill Sans"/>
              </a:rPr>
              <a:t>How people present themselves. People might present as feminine, masculine, neutral or a combination, and this may vary.</a:t>
            </a:r>
            <a:endParaRPr sz="2200" dirty="0">
              <a:solidFill>
                <a:schemeClr val="dk1"/>
              </a:solidFill>
              <a:latin typeface="Calibri" panose="020F0502020204030204" pitchFamily="34" charset="0"/>
              <a:ea typeface="Gill Sans"/>
              <a:cs typeface="Calibri" panose="020F0502020204030204" pitchFamily="34" charset="0"/>
              <a:sym typeface="Gill Sans"/>
            </a:endParaRPr>
          </a:p>
        </p:txBody>
      </p:sp>
      <p:cxnSp>
        <p:nvCxnSpPr>
          <p:cNvPr id="30" name="Google Shape;99;p14">
            <a:extLst>
              <a:ext uri="{FF2B5EF4-FFF2-40B4-BE49-F238E27FC236}">
                <a16:creationId xmlns:a16="http://schemas.microsoft.com/office/drawing/2014/main" id="{AEFF87BD-86C8-415D-8E34-C0FE0C86F9EA}"/>
              </a:ext>
              <a:ext uri="{C183D7F6-B498-43B3-948B-1728B52AA6E4}">
                <adec:decorative xmlns:adec="http://schemas.microsoft.com/office/drawing/2017/decorative" val="1"/>
              </a:ext>
            </a:extLst>
          </p:cNvPr>
          <p:cNvCxnSpPr>
            <a:cxnSpLocks/>
          </p:cNvCxnSpPr>
          <p:nvPr/>
        </p:nvCxnSpPr>
        <p:spPr>
          <a:xfrm flipV="1">
            <a:off x="4045442" y="5439462"/>
            <a:ext cx="1218336" cy="374947"/>
          </a:xfrm>
          <a:prstGeom prst="straightConnector1">
            <a:avLst/>
          </a:prstGeom>
          <a:noFill/>
          <a:ln w="25400" cap="flat" cmpd="sng">
            <a:solidFill>
              <a:srgbClr val="002B5C"/>
            </a:solidFill>
            <a:prstDash val="solid"/>
            <a:round/>
            <a:headEnd type="none" w="sm" len="sm"/>
            <a:tailEnd type="triangle" w="med" len="med"/>
          </a:ln>
          <a:effectLst>
            <a:outerShdw blurRad="40000" dist="20000" dir="5400000" rotWithShape="0">
              <a:srgbClr val="000000">
                <a:alpha val="37647"/>
              </a:srgbClr>
            </a:outerShdw>
          </a:effectLst>
        </p:spPr>
      </p:cxnSp>
      <p:sp>
        <p:nvSpPr>
          <p:cNvPr id="32" name="Google Shape;135;p16">
            <a:extLst>
              <a:ext uri="{FF2B5EF4-FFF2-40B4-BE49-F238E27FC236}">
                <a16:creationId xmlns:a16="http://schemas.microsoft.com/office/drawing/2014/main" id="{A8F2973D-D350-4FBC-8A94-C5B68C1CB948}"/>
              </a:ext>
            </a:extLst>
          </p:cNvPr>
          <p:cNvSpPr txBox="1"/>
          <p:nvPr/>
        </p:nvSpPr>
        <p:spPr>
          <a:xfrm>
            <a:off x="7754320" y="430691"/>
            <a:ext cx="3985613" cy="2278003"/>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noAutofit/>
          </a:bodyPr>
          <a:lstStyle/>
          <a:p>
            <a:r>
              <a:rPr lang="en-GB" sz="2200" b="1" dirty="0">
                <a:solidFill>
                  <a:srgbClr val="002B5C"/>
                </a:solidFill>
                <a:latin typeface="Calibri" panose="020F0502020204030204" pitchFamily="34" charset="0"/>
                <a:ea typeface="Gill Sans"/>
                <a:cs typeface="Calibri" panose="020F0502020204030204" pitchFamily="34" charset="0"/>
                <a:sym typeface="Gill Sans"/>
              </a:rPr>
              <a:t>Sexual and Romantic Attraction:</a:t>
            </a:r>
            <a:endParaRPr sz="2200" dirty="0">
              <a:latin typeface="Calibri" panose="020F0502020204030204" pitchFamily="34" charset="0"/>
              <a:cs typeface="Calibri" panose="020F0502020204030204" pitchFamily="34" charset="0"/>
            </a:endParaRPr>
          </a:p>
          <a:p>
            <a:r>
              <a:rPr lang="en-GB" sz="2200" dirty="0">
                <a:solidFill>
                  <a:schemeClr val="dk1"/>
                </a:solidFill>
                <a:latin typeface="Calibri" panose="020F0502020204030204" pitchFamily="34" charset="0"/>
                <a:ea typeface="Gill Sans"/>
                <a:cs typeface="Calibri" panose="020F0502020204030204" pitchFamily="34" charset="0"/>
                <a:sym typeface="Gill Sans"/>
              </a:rPr>
              <a:t>Who you are sexually and/or romantically attracted to. Sexual orientations can include heterosexual, lesbian, gay, bisexual, queer, and asexual.</a:t>
            </a:r>
            <a:endParaRPr sz="2200" dirty="0">
              <a:solidFill>
                <a:schemeClr val="dk1"/>
              </a:solidFill>
              <a:latin typeface="Calibri" panose="020F0502020204030204" pitchFamily="34" charset="0"/>
              <a:ea typeface="Gill Sans"/>
              <a:cs typeface="Calibri" panose="020F0502020204030204" pitchFamily="34" charset="0"/>
              <a:sym typeface="Gill Sans"/>
            </a:endParaRPr>
          </a:p>
          <a:p>
            <a:endParaRPr sz="2200" dirty="0">
              <a:solidFill>
                <a:schemeClr val="dk1"/>
              </a:solidFill>
              <a:latin typeface="Calibri" panose="020F0502020204030204" pitchFamily="34" charset="0"/>
              <a:ea typeface="Gill Sans"/>
              <a:cs typeface="Calibri" panose="020F0502020204030204" pitchFamily="34" charset="0"/>
              <a:sym typeface="Gill Sans"/>
            </a:endParaRPr>
          </a:p>
        </p:txBody>
      </p:sp>
      <p:cxnSp>
        <p:nvCxnSpPr>
          <p:cNvPr id="33" name="Google Shape;139;p16">
            <a:extLst>
              <a:ext uri="{FF2B5EF4-FFF2-40B4-BE49-F238E27FC236}">
                <a16:creationId xmlns:a16="http://schemas.microsoft.com/office/drawing/2014/main" id="{BA60A7A4-20C3-4911-AC81-77C8B4BB0BC0}"/>
              </a:ext>
              <a:ext uri="{C183D7F6-B498-43B3-948B-1728B52AA6E4}">
                <adec:decorative xmlns:adec="http://schemas.microsoft.com/office/drawing/2017/decorative" val="1"/>
              </a:ext>
            </a:extLst>
          </p:cNvPr>
          <p:cNvCxnSpPr>
            <a:cxnSpLocks/>
          </p:cNvCxnSpPr>
          <p:nvPr/>
        </p:nvCxnSpPr>
        <p:spPr>
          <a:xfrm flipH="1">
            <a:off x="6474946" y="2395433"/>
            <a:ext cx="1279374" cy="1179576"/>
          </a:xfrm>
          <a:prstGeom prst="straightConnector1">
            <a:avLst/>
          </a:prstGeom>
          <a:noFill/>
          <a:ln w="25400" cap="flat" cmpd="sng">
            <a:solidFill>
              <a:srgbClr val="002B5C"/>
            </a:solidFill>
            <a:prstDash val="solid"/>
            <a:round/>
            <a:headEnd type="none" w="sm" len="sm"/>
            <a:tailEnd type="triangle" w="med" len="med"/>
          </a:ln>
          <a:effectLst>
            <a:outerShdw blurRad="40000" dist="20000" dir="5400000" rotWithShape="0">
              <a:srgbClr val="000000">
                <a:alpha val="37647"/>
              </a:srgbClr>
            </a:outerShdw>
          </a:effectLst>
        </p:spPr>
      </p:cxnSp>
      <p:sp>
        <p:nvSpPr>
          <p:cNvPr id="35" name="Google Shape;109;p14">
            <a:extLst>
              <a:ext uri="{FF2B5EF4-FFF2-40B4-BE49-F238E27FC236}">
                <a16:creationId xmlns:a16="http://schemas.microsoft.com/office/drawing/2014/main" id="{7C1A22B8-F5AB-45CF-84C0-7EEFD5BD033C}"/>
              </a:ext>
            </a:extLst>
          </p:cNvPr>
          <p:cNvSpPr txBox="1"/>
          <p:nvPr/>
        </p:nvSpPr>
        <p:spPr>
          <a:xfrm>
            <a:off x="8275050" y="4330127"/>
            <a:ext cx="3447558" cy="1820062"/>
          </a:xfrm>
          <a:prstGeom prst="rect">
            <a:avLst/>
          </a:prstGeom>
          <a:ln/>
        </p:spPr>
        <p:style>
          <a:lnRef idx="2">
            <a:schemeClr val="dk1"/>
          </a:lnRef>
          <a:fillRef idx="1">
            <a:schemeClr val="lt1"/>
          </a:fillRef>
          <a:effectRef idx="0">
            <a:schemeClr val="dk1"/>
          </a:effectRef>
          <a:fontRef idx="minor">
            <a:schemeClr val="dk1"/>
          </a:fontRef>
        </p:style>
        <p:txBody>
          <a:bodyPr spcFirstLastPara="1" wrap="square" lIns="91425" tIns="45700" rIns="91425" bIns="45700" anchor="t" anchorCtr="0">
            <a:noAutofit/>
          </a:bodyPr>
          <a:lstStyle/>
          <a:p>
            <a:r>
              <a:rPr lang="en-GB" sz="2200" b="1" dirty="0">
                <a:solidFill>
                  <a:srgbClr val="002B5C"/>
                </a:solidFill>
                <a:latin typeface="Calibri" panose="020F0502020204030204" pitchFamily="34" charset="0"/>
                <a:ea typeface="Gill Sans"/>
                <a:cs typeface="Calibri" panose="020F0502020204030204" pitchFamily="34" charset="0"/>
                <a:sym typeface="Gill Sans"/>
              </a:rPr>
              <a:t>Sex: </a:t>
            </a:r>
            <a:r>
              <a:rPr lang="en-GB" sz="2200" dirty="0">
                <a:solidFill>
                  <a:schemeClr val="dk1"/>
                </a:solidFill>
                <a:latin typeface="Calibri" panose="020F0502020204030204" pitchFamily="34" charset="0"/>
                <a:ea typeface="Gill Sans"/>
                <a:cs typeface="Calibri" panose="020F0502020204030204" pitchFamily="34" charset="0"/>
                <a:sym typeface="Gill Sans"/>
              </a:rPr>
              <a:t>The biological characteristics of a person’s body, i.e. organs and DNA. Usually this is male, female, or intersex. </a:t>
            </a:r>
            <a:endParaRPr sz="2200" dirty="0">
              <a:latin typeface="Calibri" panose="020F0502020204030204" pitchFamily="34" charset="0"/>
              <a:cs typeface="Calibri" panose="020F0502020204030204" pitchFamily="34" charset="0"/>
            </a:endParaRPr>
          </a:p>
        </p:txBody>
      </p:sp>
      <p:cxnSp>
        <p:nvCxnSpPr>
          <p:cNvPr id="36" name="Google Shape;105;p14">
            <a:extLst>
              <a:ext uri="{FF2B5EF4-FFF2-40B4-BE49-F238E27FC236}">
                <a16:creationId xmlns:a16="http://schemas.microsoft.com/office/drawing/2014/main" id="{F88BB48E-41F3-4D24-B5DD-CC1D26D6FFC6}"/>
              </a:ext>
              <a:ext uri="{C183D7F6-B498-43B3-948B-1728B52AA6E4}">
                <adec:decorative xmlns:adec="http://schemas.microsoft.com/office/drawing/2017/decorative" val="1"/>
              </a:ext>
            </a:extLst>
          </p:cNvPr>
          <p:cNvCxnSpPr>
            <a:cxnSpLocks/>
          </p:cNvCxnSpPr>
          <p:nvPr/>
        </p:nvCxnSpPr>
        <p:spPr>
          <a:xfrm flipH="1" flipV="1">
            <a:off x="6399603" y="4937941"/>
            <a:ext cx="1875447" cy="563212"/>
          </a:xfrm>
          <a:prstGeom prst="straightConnector1">
            <a:avLst/>
          </a:prstGeom>
          <a:noFill/>
          <a:ln w="25400" cap="flat" cmpd="sng">
            <a:solidFill>
              <a:srgbClr val="002B5C"/>
            </a:solidFill>
            <a:prstDash val="solid"/>
            <a:round/>
            <a:headEnd type="none" w="sm" len="sm"/>
            <a:tailEnd type="triangle" w="med" len="med"/>
          </a:ln>
          <a:effectLst>
            <a:outerShdw blurRad="40000" dist="20000" dir="5400000" rotWithShape="0">
              <a:srgbClr val="000000">
                <a:alpha val="37647"/>
              </a:srgbClr>
            </a:outerShdw>
          </a:effectLst>
        </p:spPr>
      </p:cxnSp>
    </p:spTree>
    <p:extLst>
      <p:ext uri="{BB962C8B-B14F-4D97-AF65-F5344CB8AC3E}">
        <p14:creationId xmlns:p14="http://schemas.microsoft.com/office/powerpoint/2010/main" val="918492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BAD5-27DE-4E0D-9C52-76F6CBF75074}"/>
              </a:ext>
            </a:extLst>
          </p:cNvPr>
          <p:cNvSpPr>
            <a:spLocks noGrp="1"/>
          </p:cNvSpPr>
          <p:nvPr>
            <p:ph type="title"/>
          </p:nvPr>
        </p:nvSpPr>
        <p:spPr/>
        <p:txBody>
          <a:bodyPr/>
          <a:lstStyle/>
          <a:p>
            <a:r>
              <a:rPr lang="en-GB" b="1" dirty="0"/>
              <a:t>Optional Slides: Did you get them right 1?</a:t>
            </a:r>
          </a:p>
        </p:txBody>
      </p:sp>
      <p:graphicFrame>
        <p:nvGraphicFramePr>
          <p:cNvPr id="6" name="Table 6">
            <a:extLst>
              <a:ext uri="{FF2B5EF4-FFF2-40B4-BE49-F238E27FC236}">
                <a16:creationId xmlns:a16="http://schemas.microsoft.com/office/drawing/2014/main" id="{907B2FA0-79A8-43C2-B1A9-6D34070A7974}"/>
              </a:ext>
            </a:extLst>
          </p:cNvPr>
          <p:cNvGraphicFramePr>
            <a:graphicFrameLocks noGrp="1"/>
          </p:cNvGraphicFramePr>
          <p:nvPr>
            <p:extLst>
              <p:ext uri="{D42A27DB-BD31-4B8C-83A1-F6EECF244321}">
                <p14:modId xmlns:p14="http://schemas.microsoft.com/office/powerpoint/2010/main" val="1348490388"/>
              </p:ext>
            </p:extLst>
          </p:nvPr>
        </p:nvGraphicFramePr>
        <p:xfrm>
          <a:off x="611371" y="1596020"/>
          <a:ext cx="11105707" cy="4760027"/>
        </p:xfrm>
        <a:graphic>
          <a:graphicData uri="http://schemas.openxmlformats.org/drawingml/2006/table">
            <a:tbl>
              <a:tblPr firstRow="1" bandRow="1">
                <a:tableStyleId>{0E3FDE45-AF77-4B5C-9715-49D594BDF05E}</a:tableStyleId>
              </a:tblPr>
              <a:tblGrid>
                <a:gridCol w="1532685">
                  <a:extLst>
                    <a:ext uri="{9D8B030D-6E8A-4147-A177-3AD203B41FA5}">
                      <a16:colId xmlns:a16="http://schemas.microsoft.com/office/drawing/2014/main" val="486967493"/>
                    </a:ext>
                  </a:extLst>
                </a:gridCol>
                <a:gridCol w="9573022">
                  <a:extLst>
                    <a:ext uri="{9D8B030D-6E8A-4147-A177-3AD203B41FA5}">
                      <a16:colId xmlns:a16="http://schemas.microsoft.com/office/drawing/2014/main" val="1887850058"/>
                    </a:ext>
                  </a:extLst>
                </a:gridCol>
              </a:tblGrid>
              <a:tr h="370840">
                <a:tc>
                  <a:txBody>
                    <a:bodyPr/>
                    <a:lstStyle/>
                    <a:p>
                      <a:pPr algn="ctr">
                        <a:spcBef>
                          <a:spcPts val="1200"/>
                        </a:spcBef>
                        <a:spcAft>
                          <a:spcPts val="1200"/>
                        </a:spcAft>
                      </a:pPr>
                      <a:r>
                        <a:rPr lang="en-GB" sz="2800" dirty="0">
                          <a:latin typeface="Calibri" panose="020F0502020204030204" pitchFamily="34" charset="0"/>
                          <a:cs typeface="Calibri" panose="020F0502020204030204" pitchFamily="34" charset="0"/>
                        </a:rPr>
                        <a:t>Term</a:t>
                      </a:r>
                    </a:p>
                  </a:txBody>
                  <a:tcPr/>
                </a:tc>
                <a:tc>
                  <a:txBody>
                    <a:bodyPr/>
                    <a:lstStyle/>
                    <a:p>
                      <a:pPr algn="ctr">
                        <a:spcBef>
                          <a:spcPts val="1200"/>
                        </a:spcBef>
                        <a:spcAft>
                          <a:spcPts val="1200"/>
                        </a:spcAft>
                      </a:pPr>
                      <a:r>
                        <a:rPr lang="en-GB" sz="2800" dirty="0">
                          <a:latin typeface="Calibri" panose="020F0502020204030204" pitchFamily="34" charset="0"/>
                          <a:cs typeface="Calibri" panose="020F0502020204030204" pitchFamily="34" charset="0"/>
                        </a:rPr>
                        <a:t>Definition</a:t>
                      </a:r>
                    </a:p>
                  </a:txBody>
                  <a:tcPr/>
                </a:tc>
                <a:extLst>
                  <a:ext uri="{0D108BD9-81ED-4DB2-BD59-A6C34878D82A}">
                    <a16:rowId xmlns:a16="http://schemas.microsoft.com/office/drawing/2014/main" val="1396740408"/>
                  </a:ext>
                </a:extLst>
              </a:tr>
              <a:tr h="370840">
                <a:tc>
                  <a:txBody>
                    <a:bodyPr/>
                    <a:lstStyle/>
                    <a:p>
                      <a:pPr algn="ctr">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Ace</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This is an umbrella term used to describe a variation in levels or romantic and/or sexual attraction, including a lack of attraction. People may also use the term asexual or aromantic.</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228889401"/>
                  </a:ext>
                </a:extLst>
              </a:tr>
              <a:tr h="370840">
                <a:tc>
                  <a:txBody>
                    <a:bodyPr/>
                    <a:lstStyle/>
                    <a:p>
                      <a:pPr algn="ctr">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Bi</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This is an umbrella term used to describe a romantic and/or sexual orientation to more than one gender.</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443119050"/>
                  </a:ext>
                </a:extLst>
              </a:tr>
              <a:tr h="370840">
                <a:tc>
                  <a:txBody>
                    <a:bodyPr/>
                    <a:lstStyle/>
                    <a:p>
                      <a:pPr algn="ctr">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Cisgender or cis</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Someone whose gender identity is the same as the sex they were assigned at birth. Non-trans is also used by some people.</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950850994"/>
                  </a:ext>
                </a:extLst>
              </a:tr>
              <a:tr h="370840">
                <a:tc>
                  <a:txBody>
                    <a:bodyPr/>
                    <a:lstStyle/>
                    <a:p>
                      <a:pPr algn="ctr">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Deadnaming</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Calling someone by their birth name after they have changed their name. This term is often associated with trans people who have changed their name as part of their transition.</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4228996617"/>
                  </a:ext>
                </a:extLst>
              </a:tr>
              <a:tr h="370840">
                <a:tc>
                  <a:txBody>
                    <a:bodyPr/>
                    <a:lstStyle/>
                    <a:p>
                      <a:pPr algn="ctr">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Gender</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This is often expressed in terms of masculinity and femininity. It is largely culturally determined and is assumed from the sex assigned at birth.</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555811380"/>
                  </a:ext>
                </a:extLst>
              </a:tr>
              <a:tr h="370840">
                <a:tc>
                  <a:txBody>
                    <a:bodyPr/>
                    <a:lstStyle/>
                    <a:p>
                      <a:pPr algn="ctr">
                        <a:lnSpc>
                          <a:spcPct val="107000"/>
                        </a:lnSpc>
                        <a:spcBef>
                          <a:spcPts val="1200"/>
                        </a:spcBef>
                        <a:spcAft>
                          <a:spcPts val="1200"/>
                        </a:spcAft>
                      </a:pPr>
                      <a:r>
                        <a:rPr lang="en-GB" sz="1900">
                          <a:effectLst/>
                          <a:latin typeface="Calibri" panose="020F0502020204030204" pitchFamily="34" charset="0"/>
                          <a:cs typeface="Calibri" panose="020F0502020204030204" pitchFamily="34" charset="0"/>
                        </a:rPr>
                        <a:t>Gender dysphoria</a:t>
                      </a:r>
                      <a:endParaRPr lang="en-GB" sz="19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Used to describe when a person feels discomfort or distress because there is a mismatch between their sex assigned at birth and their gender identity.</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4250115678"/>
                  </a:ext>
                </a:extLst>
              </a:tr>
              <a:tr h="370840">
                <a:tc>
                  <a:txBody>
                    <a:bodyPr/>
                    <a:lstStyle/>
                    <a:p>
                      <a:pPr algn="ctr">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Gender identity</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1200"/>
                        </a:spcBef>
                        <a:spcAft>
                          <a:spcPts val="1200"/>
                        </a:spcAft>
                      </a:pPr>
                      <a:r>
                        <a:rPr lang="en-GB" sz="1900" dirty="0">
                          <a:effectLst/>
                          <a:latin typeface="Calibri" panose="020F0502020204030204" pitchFamily="34" charset="0"/>
                          <a:cs typeface="Calibri" panose="020F0502020204030204" pitchFamily="34" charset="0"/>
                        </a:rPr>
                        <a:t>A person’s innate sense of their own gender, whether male, female or something else. This may or may not match the sex assigned at birth.</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77089609"/>
                  </a:ext>
                </a:extLst>
              </a:tr>
            </a:tbl>
          </a:graphicData>
        </a:graphic>
      </p:graphicFrame>
    </p:spTree>
    <p:extLst>
      <p:ext uri="{BB962C8B-B14F-4D97-AF65-F5344CB8AC3E}">
        <p14:creationId xmlns:p14="http://schemas.microsoft.com/office/powerpoint/2010/main" val="906166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EBAD5-27DE-4E0D-9C52-76F6CBF75074}"/>
              </a:ext>
            </a:extLst>
          </p:cNvPr>
          <p:cNvSpPr>
            <a:spLocks noGrp="1"/>
          </p:cNvSpPr>
          <p:nvPr>
            <p:ph type="title"/>
          </p:nvPr>
        </p:nvSpPr>
        <p:spPr>
          <a:xfrm>
            <a:off x="838200" y="293207"/>
            <a:ext cx="10515600" cy="1325563"/>
          </a:xfrm>
        </p:spPr>
        <p:txBody>
          <a:bodyPr/>
          <a:lstStyle/>
          <a:p>
            <a:r>
              <a:rPr lang="en-GB" b="1" dirty="0"/>
              <a:t>Optional Slides: Did you get them right 2?</a:t>
            </a:r>
          </a:p>
        </p:txBody>
      </p:sp>
      <p:graphicFrame>
        <p:nvGraphicFramePr>
          <p:cNvPr id="6" name="Table 6">
            <a:extLst>
              <a:ext uri="{FF2B5EF4-FFF2-40B4-BE49-F238E27FC236}">
                <a16:creationId xmlns:a16="http://schemas.microsoft.com/office/drawing/2014/main" id="{907B2FA0-79A8-43C2-B1A9-6D34070A7974}"/>
              </a:ext>
            </a:extLst>
          </p:cNvPr>
          <p:cNvGraphicFramePr>
            <a:graphicFrameLocks noGrp="1"/>
          </p:cNvGraphicFramePr>
          <p:nvPr>
            <p:extLst>
              <p:ext uri="{D42A27DB-BD31-4B8C-83A1-F6EECF244321}">
                <p14:modId xmlns:p14="http://schemas.microsoft.com/office/powerpoint/2010/main" val="1454184227"/>
              </p:ext>
            </p:extLst>
          </p:nvPr>
        </p:nvGraphicFramePr>
        <p:xfrm>
          <a:off x="362309" y="1447951"/>
          <a:ext cx="11481759" cy="4895726"/>
        </p:xfrm>
        <a:graphic>
          <a:graphicData uri="http://schemas.openxmlformats.org/drawingml/2006/table">
            <a:tbl>
              <a:tblPr firstRow="1" bandRow="1">
                <a:tableStyleId>{0E3FDE45-AF77-4B5C-9715-49D594BDF05E}</a:tableStyleId>
              </a:tblPr>
              <a:tblGrid>
                <a:gridCol w="1569720">
                  <a:extLst>
                    <a:ext uri="{9D8B030D-6E8A-4147-A177-3AD203B41FA5}">
                      <a16:colId xmlns:a16="http://schemas.microsoft.com/office/drawing/2014/main" val="486967493"/>
                    </a:ext>
                  </a:extLst>
                </a:gridCol>
                <a:gridCol w="9912039">
                  <a:extLst>
                    <a:ext uri="{9D8B030D-6E8A-4147-A177-3AD203B41FA5}">
                      <a16:colId xmlns:a16="http://schemas.microsoft.com/office/drawing/2014/main" val="1887850058"/>
                    </a:ext>
                  </a:extLst>
                </a:gridCol>
              </a:tblGrid>
              <a:tr h="380178">
                <a:tc>
                  <a:txBody>
                    <a:bodyPr/>
                    <a:lstStyle/>
                    <a:p>
                      <a:pPr algn="ctr"/>
                      <a:r>
                        <a:rPr lang="en-GB" sz="2800" dirty="0">
                          <a:latin typeface="Calibri" panose="020F0502020204030204" pitchFamily="34" charset="0"/>
                          <a:cs typeface="Calibri" panose="020F0502020204030204" pitchFamily="34" charset="0"/>
                        </a:rPr>
                        <a:t>Term</a:t>
                      </a:r>
                    </a:p>
                  </a:txBody>
                  <a:tcPr/>
                </a:tc>
                <a:tc>
                  <a:txBody>
                    <a:bodyPr/>
                    <a:lstStyle/>
                    <a:p>
                      <a:pPr algn="ctr"/>
                      <a:r>
                        <a:rPr lang="en-GB" sz="2800" dirty="0">
                          <a:latin typeface="Calibri" panose="020F0502020204030204" pitchFamily="34" charset="0"/>
                          <a:cs typeface="Calibri" panose="020F0502020204030204" pitchFamily="34" charset="0"/>
                        </a:rPr>
                        <a:t>Definition</a:t>
                      </a:r>
                    </a:p>
                  </a:txBody>
                  <a:tcPr/>
                </a:tc>
                <a:extLst>
                  <a:ext uri="{0D108BD9-81ED-4DB2-BD59-A6C34878D82A}">
                    <a16:rowId xmlns:a16="http://schemas.microsoft.com/office/drawing/2014/main" val="1396740408"/>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Gender reassignment</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Another way of describing a person’s transition. It can include medical intervention, changing names, pronouns, dressing differently, and living in their self-identified gender.</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681506367"/>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Intersex</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A term used to describe a person who may have the biological attributes of both sexes or whose biological attributes do not fit with societal assumptions about what constitutes male or female.</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412069214"/>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Non-binary</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An umbrella term for people whose gender identity doesn’t sit comfortably with ‘man’ or ‘woman’.</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130693144"/>
                  </a:ext>
                </a:extLst>
              </a:tr>
              <a:tr h="370840">
                <a:tc>
                  <a:txBody>
                    <a:bodyPr/>
                    <a:lstStyle/>
                    <a:p>
                      <a:pPr algn="ctr">
                        <a:lnSpc>
                          <a:spcPct val="107000"/>
                        </a:lnSpc>
                        <a:spcBef>
                          <a:spcPts val="600"/>
                        </a:spcBef>
                        <a:spcAft>
                          <a:spcPts val="600"/>
                        </a:spcAft>
                      </a:pPr>
                      <a:r>
                        <a:rPr lang="en-GB" sz="1900">
                          <a:effectLst/>
                          <a:latin typeface="Calibri" panose="020F0502020204030204" pitchFamily="34" charset="0"/>
                          <a:cs typeface="Calibri" panose="020F0502020204030204" pitchFamily="34" charset="0"/>
                        </a:rPr>
                        <a:t>Pan</a:t>
                      </a:r>
                      <a:endParaRPr lang="en-GB" sz="19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Refers to a person whose romantic and/or sexual attraction towards others is not limited by sex or gender.</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3736906182"/>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Passing</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If someone is regarded, at a glance, to be a cisgender man or cisgender woman. </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614801781"/>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Queer</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b="0" u="none" strike="noStrike" cap="none" dirty="0">
                          <a:solidFill>
                            <a:schemeClr val="tx1"/>
                          </a:solidFill>
                          <a:effectLst/>
                          <a:latin typeface="Calibri" panose="020F0502020204030204" pitchFamily="34" charset="0"/>
                          <a:cs typeface="Calibri" panose="020F0502020204030204" pitchFamily="34" charset="0"/>
                          <a:sym typeface="Arial"/>
                        </a:rPr>
                        <a:t>This is a term used by those who want to reject specific labels or orientation or gender identity. Some people view it as a slur, but it was reclaimed in the late 80s by the LGBT community.</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211701353"/>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Sex</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This is assigned to a person based on primary sex characteristics (genitalia) and reproductive functions.</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1531477046"/>
                  </a:ext>
                </a:extLst>
              </a:tr>
              <a:tr h="370840">
                <a:tc>
                  <a:txBody>
                    <a:bodyPr/>
                    <a:lstStyle/>
                    <a:p>
                      <a:pPr algn="ctr">
                        <a:lnSpc>
                          <a:spcPct val="107000"/>
                        </a:lnSpc>
                        <a:spcBef>
                          <a:spcPts val="600"/>
                        </a:spcBef>
                        <a:spcAft>
                          <a:spcPts val="600"/>
                        </a:spcAft>
                      </a:pPr>
                      <a:r>
                        <a:rPr lang="en-GB" sz="1900" dirty="0">
                          <a:effectLst/>
                          <a:latin typeface="Calibri" panose="020F0502020204030204" pitchFamily="34" charset="0"/>
                          <a:cs typeface="Calibri" panose="020F0502020204030204" pitchFamily="34" charset="0"/>
                        </a:rPr>
                        <a:t>Trans</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algn="l">
                        <a:lnSpc>
                          <a:spcPct val="107000"/>
                        </a:lnSpc>
                        <a:spcBef>
                          <a:spcPts val="600"/>
                        </a:spcBef>
                        <a:spcAft>
                          <a:spcPts val="600"/>
                        </a:spcAft>
                      </a:pPr>
                      <a:r>
                        <a:rPr lang="en-GB" sz="1900" b="0" u="none" strike="noStrike" cap="none" dirty="0">
                          <a:solidFill>
                            <a:schemeClr val="tx1"/>
                          </a:solidFill>
                          <a:effectLst/>
                          <a:latin typeface="Calibri" panose="020F0502020204030204" pitchFamily="34" charset="0"/>
                          <a:cs typeface="Calibri" panose="020F0502020204030204" pitchFamily="34" charset="0"/>
                          <a:sym typeface="Arial"/>
                        </a:rPr>
                        <a:t>An umbrella term to describe people whose gender is not the same as, or does not sit comfortably with, the sex they were assigned at birth. </a:t>
                      </a:r>
                      <a:endParaRPr lang="en-GB" sz="19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tc>
                <a:extLst>
                  <a:ext uri="{0D108BD9-81ED-4DB2-BD59-A6C34878D82A}">
                    <a16:rowId xmlns:a16="http://schemas.microsoft.com/office/drawing/2014/main" val="2364101982"/>
                  </a:ext>
                </a:extLst>
              </a:tr>
            </a:tbl>
          </a:graphicData>
        </a:graphic>
      </p:graphicFrame>
    </p:spTree>
    <p:extLst>
      <p:ext uri="{BB962C8B-B14F-4D97-AF65-F5344CB8AC3E}">
        <p14:creationId xmlns:p14="http://schemas.microsoft.com/office/powerpoint/2010/main" val="40201483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2C6223-9CC4-4A9A-BC97-B6CB85BA1E40}"/>
              </a:ext>
            </a:extLst>
          </p:cNvPr>
          <p:cNvSpPr>
            <a:spLocks noGrp="1"/>
          </p:cNvSpPr>
          <p:nvPr>
            <p:ph type="title"/>
          </p:nvPr>
        </p:nvSpPr>
        <p:spPr>
          <a:xfrm>
            <a:off x="1115568" y="548640"/>
            <a:ext cx="10168128" cy="1179576"/>
          </a:xfrm>
        </p:spPr>
        <p:txBody>
          <a:bodyPr>
            <a:normAutofit/>
          </a:bodyPr>
          <a:lstStyle/>
          <a:p>
            <a:r>
              <a:rPr lang="en-GB" sz="4000" b="1" dirty="0"/>
              <a:t>Be Aware…</a:t>
            </a:r>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96B424E4-EB27-492F-B30C-5C40AF9497AB}"/>
              </a:ext>
            </a:extLst>
          </p:cNvPr>
          <p:cNvSpPr>
            <a:spLocks noGrp="1"/>
          </p:cNvSpPr>
          <p:nvPr>
            <p:ph type="body" idx="1"/>
          </p:nvPr>
        </p:nvSpPr>
        <p:spPr>
          <a:xfrm>
            <a:off x="498834" y="2481943"/>
            <a:ext cx="11223774" cy="3695020"/>
          </a:xfrm>
        </p:spPr>
        <p:txBody>
          <a:bodyPr>
            <a:normAutofit/>
          </a:bodyPr>
          <a:lstStyle/>
          <a:p>
            <a:r>
              <a:rPr lang="en-GB" sz="3200" dirty="0">
                <a:latin typeface="Gill Sans"/>
                <a:ea typeface="Gill Sans"/>
                <a:cs typeface="Gill Sans"/>
                <a:sym typeface="Gill Sans"/>
              </a:rPr>
              <a:t>A person’s sex, gender identity, and gender expression may vary and not correspond.</a:t>
            </a:r>
          </a:p>
          <a:p>
            <a:r>
              <a:rPr lang="en-GB" sz="3200" dirty="0">
                <a:latin typeface="Gill Sans"/>
                <a:ea typeface="Gill Sans"/>
                <a:cs typeface="Gill Sans"/>
                <a:sym typeface="Gill Sans"/>
              </a:rPr>
              <a:t>Trans status is not the same as sexuality. For example, you can be trans and heterosexual, or you can be trans and gay. </a:t>
            </a:r>
          </a:p>
        </p:txBody>
      </p:sp>
    </p:spTree>
    <p:extLst>
      <p:ext uri="{BB962C8B-B14F-4D97-AF65-F5344CB8AC3E}">
        <p14:creationId xmlns:p14="http://schemas.microsoft.com/office/powerpoint/2010/main" val="31121135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BEDAC0-6E6F-473D-B3BD-729203934140}"/>
              </a:ext>
            </a:extLst>
          </p:cNvPr>
          <p:cNvSpPr>
            <a:spLocks noGrp="1"/>
          </p:cNvSpPr>
          <p:nvPr>
            <p:ph type="title"/>
          </p:nvPr>
        </p:nvSpPr>
        <p:spPr>
          <a:xfrm>
            <a:off x="1115568" y="548640"/>
            <a:ext cx="10168128" cy="1179576"/>
          </a:xfrm>
        </p:spPr>
        <p:txBody>
          <a:bodyPr>
            <a:normAutofit/>
          </a:bodyPr>
          <a:lstStyle/>
          <a:p>
            <a:r>
              <a:rPr lang="en-GB" sz="4000" b="1" dirty="0"/>
              <a:t>Intersex People</a:t>
            </a: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Google Shape;217;p21">
            <a:extLst>
              <a:ext uri="{FF2B5EF4-FFF2-40B4-BE49-F238E27FC236}">
                <a16:creationId xmlns:a16="http://schemas.microsoft.com/office/drawing/2014/main" id="{535C4FEB-DECB-49FF-812C-0C6E6767E48E}"/>
              </a:ext>
              <a:ext uri="{C183D7F6-B498-43B3-948B-1728B52AA6E4}">
                <adec:decorative xmlns:adec="http://schemas.microsoft.com/office/drawing/2017/decorative" val="1"/>
              </a:ext>
            </a:extLst>
          </p:cNvPr>
          <p:cNvPicPr preferRelativeResize="0"/>
          <p:nvPr/>
        </p:nvPicPr>
        <p:blipFill rotWithShape="1">
          <a:blip r:embed="rId3"/>
          <a:srcRect t="1372" r="2" b="18540"/>
          <a:stretch/>
        </p:blipFill>
        <p:spPr>
          <a:xfrm>
            <a:off x="566929" y="3534310"/>
            <a:ext cx="2802995" cy="1804767"/>
          </a:xfrm>
          <a:prstGeom prst="rect">
            <a:avLst/>
          </a:prstGeom>
          <a:noFill/>
        </p:spPr>
      </p:pic>
      <p:sp>
        <p:nvSpPr>
          <p:cNvPr id="3" name="Text Placeholder 2">
            <a:extLst>
              <a:ext uri="{FF2B5EF4-FFF2-40B4-BE49-F238E27FC236}">
                <a16:creationId xmlns:a16="http://schemas.microsoft.com/office/drawing/2014/main" id="{26AA8C1F-CE3C-4454-906E-D03054511231}"/>
              </a:ext>
            </a:extLst>
          </p:cNvPr>
          <p:cNvSpPr>
            <a:spLocks noGrp="1"/>
          </p:cNvSpPr>
          <p:nvPr>
            <p:ph type="body" idx="1"/>
          </p:nvPr>
        </p:nvSpPr>
        <p:spPr>
          <a:xfrm>
            <a:off x="3595955" y="2151739"/>
            <a:ext cx="8126653" cy="4265233"/>
          </a:xfrm>
        </p:spPr>
        <p:txBody>
          <a:bodyPr anchor="ctr">
            <a:normAutofit/>
          </a:bodyPr>
          <a:lstStyle/>
          <a:p>
            <a:r>
              <a:rPr lang="en-GB" sz="2200" dirty="0">
                <a:latin typeface="Calibri" panose="020F0502020204030204" pitchFamily="34" charset="0"/>
                <a:ea typeface="Gill Sans"/>
                <a:cs typeface="Calibri" panose="020F0502020204030204" pitchFamily="34" charset="0"/>
                <a:sym typeface="Gill Sans"/>
              </a:rPr>
              <a:t>Intersex refers to people who are born with primary sex characteristics – such as genitals and chromosome patterns – that do not fit typical binary notions of male and female. </a:t>
            </a:r>
          </a:p>
          <a:p>
            <a:r>
              <a:rPr lang="en-GB" sz="2200" dirty="0">
                <a:latin typeface="Calibri" panose="020F0502020204030204" pitchFamily="34" charset="0"/>
                <a:ea typeface="Gill Sans"/>
                <a:cs typeface="Calibri" panose="020F0502020204030204" pitchFamily="34" charset="0"/>
                <a:sym typeface="Gill Sans"/>
              </a:rPr>
              <a:t>This is about </a:t>
            </a:r>
            <a:r>
              <a:rPr lang="en-GB" sz="2200" b="1" i="1" dirty="0">
                <a:latin typeface="Calibri" panose="020F0502020204030204" pitchFamily="34" charset="0"/>
                <a:ea typeface="Gill Sans"/>
                <a:cs typeface="Calibri" panose="020F0502020204030204" pitchFamily="34" charset="0"/>
                <a:sym typeface="Gill Sans"/>
              </a:rPr>
              <a:t>chromosomal </a:t>
            </a:r>
            <a:r>
              <a:rPr lang="en-GB" sz="2200" dirty="0">
                <a:latin typeface="Calibri" panose="020F0502020204030204" pitchFamily="34" charset="0"/>
                <a:ea typeface="Gill Sans"/>
                <a:cs typeface="Calibri" panose="020F0502020204030204" pitchFamily="34" charset="0"/>
                <a:sym typeface="Gill Sans"/>
              </a:rPr>
              <a:t>or </a:t>
            </a:r>
            <a:r>
              <a:rPr lang="en-GB" sz="2200" b="1" i="1" dirty="0">
                <a:latin typeface="Calibri" panose="020F0502020204030204" pitchFamily="34" charset="0"/>
                <a:ea typeface="Gill Sans"/>
                <a:cs typeface="Calibri" panose="020F0502020204030204" pitchFamily="34" charset="0"/>
                <a:sym typeface="Gill Sans"/>
              </a:rPr>
              <a:t>physical sex</a:t>
            </a:r>
            <a:r>
              <a:rPr lang="en-GB" sz="2200" b="1" dirty="0">
                <a:latin typeface="Calibri" panose="020F0502020204030204" pitchFamily="34" charset="0"/>
                <a:ea typeface="Gill Sans"/>
                <a:cs typeface="Calibri" panose="020F0502020204030204" pitchFamily="34" charset="0"/>
                <a:sym typeface="Gill Sans"/>
              </a:rPr>
              <a:t> </a:t>
            </a:r>
            <a:r>
              <a:rPr lang="en-GB" sz="2200" dirty="0">
                <a:latin typeface="Calibri" panose="020F0502020204030204" pitchFamily="34" charset="0"/>
                <a:ea typeface="Gill Sans"/>
                <a:cs typeface="Calibri" panose="020F0502020204030204" pitchFamily="34" charset="0"/>
                <a:sym typeface="Gill Sans"/>
              </a:rPr>
              <a:t>and not gender identity. </a:t>
            </a:r>
          </a:p>
          <a:p>
            <a:r>
              <a:rPr lang="en-GB" sz="2200" dirty="0">
                <a:latin typeface="Calibri" panose="020F0502020204030204" pitchFamily="34" charset="0"/>
                <a:ea typeface="Gill Sans"/>
                <a:cs typeface="Calibri" panose="020F0502020204030204" pitchFamily="34" charset="0"/>
                <a:sym typeface="Gill Sans"/>
              </a:rPr>
              <a:t>Some intersex people might be trans or gender diverse, while other intersex people might identify with the gender they were assigned at birth.</a:t>
            </a:r>
          </a:p>
          <a:p>
            <a:r>
              <a:rPr lang="en-GB" sz="2200" dirty="0">
                <a:latin typeface="Calibri" panose="020F0502020204030204" pitchFamily="34" charset="0"/>
                <a:ea typeface="Gill Sans"/>
                <a:cs typeface="Calibri" panose="020F0502020204030204" pitchFamily="34" charset="0"/>
                <a:sym typeface="Gill Sans"/>
              </a:rPr>
              <a:t>Specific provision and support for intersex people is required, as needs and circumstances often differ from those of trans and gender diverse people.</a:t>
            </a:r>
          </a:p>
        </p:txBody>
      </p:sp>
    </p:spTree>
    <p:extLst>
      <p:ext uri="{BB962C8B-B14F-4D97-AF65-F5344CB8AC3E}">
        <p14:creationId xmlns:p14="http://schemas.microsoft.com/office/powerpoint/2010/main" val="143326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BEDAC0-6E6F-473D-B3BD-729203934140}"/>
              </a:ext>
            </a:extLst>
          </p:cNvPr>
          <p:cNvSpPr>
            <a:spLocks noGrp="1"/>
          </p:cNvSpPr>
          <p:nvPr>
            <p:ph type="title"/>
          </p:nvPr>
        </p:nvSpPr>
        <p:spPr>
          <a:xfrm>
            <a:off x="1115568" y="548640"/>
            <a:ext cx="10168128" cy="1179576"/>
          </a:xfrm>
        </p:spPr>
        <p:txBody>
          <a:bodyPr>
            <a:normAutofit/>
          </a:bodyPr>
          <a:lstStyle/>
          <a:p>
            <a:r>
              <a:rPr lang="en-GB" sz="4000" b="1" dirty="0"/>
              <a:t>Intersex Facts</a:t>
            </a: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Google Shape;217;p21">
            <a:extLst>
              <a:ext uri="{FF2B5EF4-FFF2-40B4-BE49-F238E27FC236}">
                <a16:creationId xmlns:a16="http://schemas.microsoft.com/office/drawing/2014/main" id="{535C4FEB-DECB-49FF-812C-0C6E6767E48E}"/>
              </a:ext>
              <a:ext uri="{C183D7F6-B498-43B3-948B-1728B52AA6E4}">
                <adec:decorative xmlns:adec="http://schemas.microsoft.com/office/drawing/2017/decorative" val="1"/>
              </a:ext>
            </a:extLst>
          </p:cNvPr>
          <p:cNvPicPr preferRelativeResize="0"/>
          <p:nvPr/>
        </p:nvPicPr>
        <p:blipFill rotWithShape="1">
          <a:blip r:embed="rId3"/>
          <a:srcRect t="1372" r="2" b="18540"/>
          <a:stretch/>
        </p:blipFill>
        <p:spPr>
          <a:xfrm>
            <a:off x="566929" y="3534310"/>
            <a:ext cx="2802995" cy="1804767"/>
          </a:xfrm>
          <a:prstGeom prst="rect">
            <a:avLst/>
          </a:prstGeom>
          <a:noFill/>
        </p:spPr>
      </p:pic>
      <p:sp>
        <p:nvSpPr>
          <p:cNvPr id="3" name="Text Placeholder 2">
            <a:extLst>
              <a:ext uri="{FF2B5EF4-FFF2-40B4-BE49-F238E27FC236}">
                <a16:creationId xmlns:a16="http://schemas.microsoft.com/office/drawing/2014/main" id="{26AA8C1F-CE3C-4454-906E-D03054511231}"/>
              </a:ext>
            </a:extLst>
          </p:cNvPr>
          <p:cNvSpPr>
            <a:spLocks noGrp="1"/>
          </p:cNvSpPr>
          <p:nvPr>
            <p:ph type="body" idx="1"/>
          </p:nvPr>
        </p:nvSpPr>
        <p:spPr>
          <a:xfrm>
            <a:off x="3595955" y="2151739"/>
            <a:ext cx="8126653" cy="4265233"/>
          </a:xfrm>
        </p:spPr>
        <p:txBody>
          <a:bodyPr anchor="ctr">
            <a:noAutofit/>
          </a:bodyPr>
          <a:lstStyle/>
          <a:p>
            <a:r>
              <a:rPr lang="en-GB" sz="2200" dirty="0">
                <a:latin typeface="Calibri" panose="020F0502020204030204" pitchFamily="34" charset="0"/>
                <a:cs typeface="Calibri" panose="020F0502020204030204" pitchFamily="34" charset="0"/>
              </a:rPr>
              <a:t>1.7% of the population are intersex (comparable to the number born with red hair).</a:t>
            </a:r>
          </a:p>
          <a:p>
            <a:r>
              <a:rPr lang="en-GB" sz="2200" dirty="0">
                <a:latin typeface="Calibri" panose="020F0502020204030204" pitchFamily="34" charset="0"/>
                <a:cs typeface="Calibri" panose="020F0502020204030204" pitchFamily="34" charset="0"/>
              </a:rPr>
              <a:t>It is a natural variation, not a ‘medical condition’.</a:t>
            </a:r>
          </a:p>
          <a:p>
            <a:r>
              <a:rPr lang="en-GB" sz="2200" dirty="0">
                <a:latin typeface="Calibri" panose="020F0502020204030204" pitchFamily="34" charset="0"/>
                <a:cs typeface="Calibri" panose="020F0502020204030204" pitchFamily="34" charset="0"/>
              </a:rPr>
              <a:t>Many intersex people are unaware of their status; some find out upon fertility investigation, some find out later, or not at all.</a:t>
            </a:r>
          </a:p>
          <a:p>
            <a:r>
              <a:rPr lang="en-GB" sz="2200" dirty="0">
                <a:latin typeface="Calibri" panose="020F0502020204030204" pitchFamily="34" charset="0"/>
                <a:ea typeface="Gill Sans"/>
                <a:cs typeface="Calibri" panose="020F0502020204030204" pitchFamily="34" charset="0"/>
                <a:sym typeface="Gill Sans"/>
              </a:rPr>
              <a:t>Medical professionals may refer to intersex people as having ‘disorders of sexual development’, a description widely rejected by intersex people. </a:t>
            </a:r>
          </a:p>
          <a:p>
            <a:r>
              <a:rPr lang="en-GB" sz="2200" dirty="0">
                <a:latin typeface="Calibri" panose="020F0502020204030204" pitchFamily="34" charset="0"/>
                <a:ea typeface="Gill Sans"/>
                <a:cs typeface="Calibri" panose="020F0502020204030204" pitchFamily="34" charset="0"/>
                <a:sym typeface="Gill Sans"/>
              </a:rPr>
              <a:t>Intersex people have no specific legal protection from discrimination. </a:t>
            </a:r>
          </a:p>
          <a:p>
            <a:r>
              <a:rPr lang="en-GB" sz="2200" dirty="0">
                <a:latin typeface="Calibri" panose="020F0502020204030204" pitchFamily="34" charset="0"/>
                <a:ea typeface="Gill Sans"/>
                <a:cs typeface="Calibri" panose="020F0502020204030204" pitchFamily="34" charset="0"/>
                <a:sym typeface="Gill Sans"/>
              </a:rPr>
              <a:t>Intersex people often endure many invasive tests and unnecessary and non-consensual surgeries are not uncommon.</a:t>
            </a:r>
          </a:p>
        </p:txBody>
      </p:sp>
    </p:spTree>
    <p:extLst>
      <p:ext uri="{BB962C8B-B14F-4D97-AF65-F5344CB8AC3E}">
        <p14:creationId xmlns:p14="http://schemas.microsoft.com/office/powerpoint/2010/main" val="1943883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BEDAC0-6E6F-473D-B3BD-729203934140}"/>
              </a:ext>
            </a:extLst>
          </p:cNvPr>
          <p:cNvSpPr>
            <a:spLocks noGrp="1"/>
          </p:cNvSpPr>
          <p:nvPr>
            <p:ph type="title"/>
          </p:nvPr>
        </p:nvSpPr>
        <p:spPr>
          <a:xfrm>
            <a:off x="1115568" y="548640"/>
            <a:ext cx="10168128" cy="1179576"/>
          </a:xfrm>
        </p:spPr>
        <p:txBody>
          <a:bodyPr>
            <a:normAutofit/>
          </a:bodyPr>
          <a:lstStyle/>
          <a:p>
            <a:r>
              <a:rPr lang="en-GB" sz="4000" b="1" dirty="0"/>
              <a:t>Non-Binary People</a:t>
            </a: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26AA8C1F-CE3C-4454-906E-D03054511231}"/>
              </a:ext>
            </a:extLst>
          </p:cNvPr>
          <p:cNvSpPr>
            <a:spLocks noGrp="1"/>
          </p:cNvSpPr>
          <p:nvPr>
            <p:ph type="body" idx="1"/>
          </p:nvPr>
        </p:nvSpPr>
        <p:spPr>
          <a:xfrm>
            <a:off x="4282932" y="2141465"/>
            <a:ext cx="7439675" cy="4265233"/>
          </a:xfrm>
        </p:spPr>
        <p:txBody>
          <a:bodyPr anchor="ctr">
            <a:normAutofit/>
          </a:bodyPr>
          <a:lstStyle/>
          <a:p>
            <a:r>
              <a:rPr lang="en-GB" sz="2400" dirty="0">
                <a:latin typeface="Gill Sans"/>
                <a:ea typeface="Gill Sans"/>
                <a:cs typeface="Gill Sans"/>
                <a:sym typeface="Gill Sans"/>
              </a:rPr>
              <a:t>Non-binary people can:</a:t>
            </a:r>
          </a:p>
          <a:p>
            <a:pPr lvl="1"/>
            <a:r>
              <a:rPr lang="en-GB" sz="2000" dirty="0">
                <a:latin typeface="Gill Sans"/>
                <a:ea typeface="Gill Sans"/>
                <a:cs typeface="Gill Sans"/>
                <a:sym typeface="Gill Sans"/>
              </a:rPr>
              <a:t>Identify as neither male nor female</a:t>
            </a:r>
          </a:p>
          <a:p>
            <a:pPr lvl="1"/>
            <a:r>
              <a:rPr lang="en-GB" sz="2000" dirty="0">
                <a:latin typeface="Gill Sans"/>
                <a:ea typeface="Gill Sans"/>
                <a:cs typeface="Gill Sans"/>
                <a:sym typeface="Gill Sans"/>
              </a:rPr>
              <a:t>Identify as a combination of genders</a:t>
            </a:r>
          </a:p>
          <a:p>
            <a:pPr lvl="1"/>
            <a:r>
              <a:rPr lang="en-GB" sz="2000" dirty="0">
                <a:latin typeface="Gill Sans"/>
                <a:ea typeface="Gill Sans"/>
                <a:cs typeface="Gill Sans"/>
                <a:sym typeface="Gill Sans"/>
              </a:rPr>
              <a:t>Identify as fluid between genders</a:t>
            </a:r>
          </a:p>
          <a:p>
            <a:pPr lvl="1"/>
            <a:r>
              <a:rPr lang="en-GB" sz="2000" dirty="0">
                <a:latin typeface="Gill Sans"/>
                <a:ea typeface="Gill Sans"/>
                <a:cs typeface="Gill Sans"/>
                <a:sym typeface="Gill Sans"/>
              </a:rPr>
              <a:t>Not identify with gender at all</a:t>
            </a:r>
          </a:p>
          <a:p>
            <a:pPr lvl="1"/>
            <a:r>
              <a:rPr lang="en-GB" sz="2000" dirty="0">
                <a:latin typeface="Gill Sans"/>
                <a:ea typeface="Gill Sans"/>
                <a:cs typeface="Gill Sans"/>
                <a:sym typeface="Gill Sans"/>
              </a:rPr>
              <a:t>Identify with a gender outside of male and female.</a:t>
            </a:r>
          </a:p>
          <a:p>
            <a:r>
              <a:rPr lang="en-GB" sz="2400" dirty="0">
                <a:latin typeface="Gill Sans"/>
                <a:ea typeface="Gill Sans"/>
                <a:cs typeface="Gill Sans"/>
                <a:sym typeface="Gill Sans"/>
              </a:rPr>
              <a:t>Genderqueer is a blanket term for those who don’t define their gender in binary terms.</a:t>
            </a:r>
          </a:p>
          <a:p>
            <a:r>
              <a:rPr lang="en-GB" sz="2400" dirty="0">
                <a:latin typeface="Gill Sans"/>
                <a:ea typeface="Gill Sans"/>
                <a:cs typeface="Gill Sans"/>
                <a:sym typeface="Gill Sans"/>
              </a:rPr>
              <a:t>It is not a modern invention.</a:t>
            </a:r>
          </a:p>
          <a:p>
            <a:r>
              <a:rPr lang="en-GB" sz="2400" dirty="0">
                <a:latin typeface="Gill Sans"/>
                <a:ea typeface="Gill Sans"/>
                <a:cs typeface="Gill Sans"/>
                <a:sym typeface="Gill Sans"/>
              </a:rPr>
              <a:t>Each identity is valid and deserves respect</a:t>
            </a:r>
          </a:p>
        </p:txBody>
      </p:sp>
      <p:pic>
        <p:nvPicPr>
          <p:cNvPr id="10" name="Google Shape;120;p13">
            <a:extLst>
              <a:ext uri="{FF2B5EF4-FFF2-40B4-BE49-F238E27FC236}">
                <a16:creationId xmlns:a16="http://schemas.microsoft.com/office/drawing/2014/main" id="{32BD15EB-7307-4677-9DE1-D40FEB5E0DFE}"/>
              </a:ext>
              <a:ext uri="{C183D7F6-B498-43B3-948B-1728B52AA6E4}">
                <adec:decorative xmlns:adec="http://schemas.microsoft.com/office/drawing/2017/decorative" val="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747" y="2789605"/>
            <a:ext cx="3609439" cy="245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865248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ECDE7A-6944-466D-8FFE-149A29BA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 name="Rectangle 10">
            <a:extLst>
              <a:ext uri="{FF2B5EF4-FFF2-40B4-BE49-F238E27FC236}">
                <a16:creationId xmlns:a16="http://schemas.microsoft.com/office/drawing/2014/main" id="{B3420082-9415-44EC-802E-C77D71D59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12700">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55A52C45-1FCB-4636-A80F-2849B8226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7BEDAC0-6E6F-473D-B3BD-729203934140}"/>
              </a:ext>
            </a:extLst>
          </p:cNvPr>
          <p:cNvSpPr>
            <a:spLocks noGrp="1"/>
          </p:cNvSpPr>
          <p:nvPr>
            <p:ph type="title"/>
          </p:nvPr>
        </p:nvSpPr>
        <p:spPr>
          <a:xfrm>
            <a:off x="1115568" y="548640"/>
            <a:ext cx="10168128" cy="1179576"/>
          </a:xfrm>
        </p:spPr>
        <p:txBody>
          <a:bodyPr>
            <a:normAutofit/>
          </a:bodyPr>
          <a:lstStyle/>
          <a:p>
            <a:r>
              <a:rPr lang="en-GB" sz="4000" b="1" dirty="0"/>
              <a:t>Non-Binary Pronouns</a:t>
            </a:r>
          </a:p>
        </p:txBody>
      </p:sp>
      <p:sp>
        <p:nvSpPr>
          <p:cNvPr id="15" name="Rectangle 14">
            <a:extLst>
              <a:ext uri="{FF2B5EF4-FFF2-40B4-BE49-F238E27FC236}">
                <a16:creationId xmlns:a16="http://schemas.microsoft.com/office/drawing/2014/main" id="{768EB4DD-3704-43AD-92B3-C4E0C6EA92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7079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 name="Text Placeholder 2">
            <a:extLst>
              <a:ext uri="{FF2B5EF4-FFF2-40B4-BE49-F238E27FC236}">
                <a16:creationId xmlns:a16="http://schemas.microsoft.com/office/drawing/2014/main" id="{26AA8C1F-CE3C-4454-906E-D03054511231}"/>
              </a:ext>
            </a:extLst>
          </p:cNvPr>
          <p:cNvSpPr>
            <a:spLocks noGrp="1"/>
          </p:cNvSpPr>
          <p:nvPr>
            <p:ph type="body" idx="1"/>
          </p:nvPr>
        </p:nvSpPr>
        <p:spPr>
          <a:xfrm>
            <a:off x="4282932" y="2141465"/>
            <a:ext cx="7439675" cy="4265233"/>
          </a:xfrm>
        </p:spPr>
        <p:txBody>
          <a:bodyPr anchor="ctr">
            <a:normAutofit/>
          </a:bodyPr>
          <a:lstStyle/>
          <a:p>
            <a:r>
              <a:rPr lang="en-GB" dirty="0">
                <a:latin typeface="Gill Sans"/>
                <a:ea typeface="Gill Sans"/>
                <a:cs typeface="Gill Sans"/>
                <a:sym typeface="Gill Sans"/>
              </a:rPr>
              <a:t>Not all non-binary people use ‘he’ or ‘she’ pronouns.</a:t>
            </a:r>
          </a:p>
          <a:p>
            <a:r>
              <a:rPr lang="en-GB" dirty="0">
                <a:latin typeface="Gill Sans"/>
                <a:ea typeface="Gill Sans"/>
                <a:cs typeface="Gill Sans"/>
                <a:sym typeface="Gill Sans"/>
              </a:rPr>
              <a:t>Many use ‘they’ and ‘them’.</a:t>
            </a:r>
          </a:p>
          <a:p>
            <a:r>
              <a:rPr lang="en-GB" dirty="0">
                <a:latin typeface="Gill Sans"/>
                <a:ea typeface="Gill Sans"/>
                <a:cs typeface="Gill Sans"/>
                <a:sym typeface="Gill Sans"/>
              </a:rPr>
              <a:t>Neopronouns like ‘zie’ or ‘ey’ also exist.</a:t>
            </a:r>
          </a:p>
        </p:txBody>
      </p:sp>
      <p:pic>
        <p:nvPicPr>
          <p:cNvPr id="10" name="Google Shape;120;p13">
            <a:extLst>
              <a:ext uri="{FF2B5EF4-FFF2-40B4-BE49-F238E27FC236}">
                <a16:creationId xmlns:a16="http://schemas.microsoft.com/office/drawing/2014/main" id="{32BD15EB-7307-4677-9DE1-D40FEB5E0DFE}"/>
              </a:ext>
              <a:ext uri="{C183D7F6-B498-43B3-948B-1728B52AA6E4}">
                <adec:decorative xmlns:adec="http://schemas.microsoft.com/office/drawing/2017/decorative" val="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6747" y="2789605"/>
            <a:ext cx="3609439" cy="2458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64043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5. Language to Avoid</a:t>
            </a:r>
          </a:p>
        </p:txBody>
      </p:sp>
    </p:spTree>
    <p:extLst>
      <p:ext uri="{BB962C8B-B14F-4D97-AF65-F5344CB8AC3E}">
        <p14:creationId xmlns:p14="http://schemas.microsoft.com/office/powerpoint/2010/main" val="3454398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87"/>
        <p:cNvGrpSpPr/>
        <p:nvPr/>
      </p:nvGrpSpPr>
      <p:grpSpPr>
        <a:xfrm>
          <a:off x="0" y="0"/>
          <a:ext cx="0" cy="0"/>
          <a:chOff x="0" y="0"/>
          <a:chExt cx="0" cy="0"/>
        </a:xfrm>
      </p:grpSpPr>
      <p:sp useBgFill="1">
        <p:nvSpPr>
          <p:cNvPr id="205" name="Rectangle 204">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07" name="Rectangle 206">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209" name="Rectangle 208">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8" name="Google Shape;188;p25"/>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Language to avoid</a:t>
            </a:r>
            <a:endParaRPr lang="en-GB" sz="4000" dirty="0"/>
          </a:p>
        </p:txBody>
      </p:sp>
      <p:sp>
        <p:nvSpPr>
          <p:cNvPr id="211" name="Rectangle 210">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89" name="Google Shape;189;p25"/>
          <p:cNvSpPr txBox="1">
            <a:spLocks noGrp="1"/>
          </p:cNvSpPr>
          <p:nvPr>
            <p:ph type="body" idx="1"/>
          </p:nvPr>
        </p:nvSpPr>
        <p:spPr>
          <a:xfrm>
            <a:off x="566928" y="2276856"/>
            <a:ext cx="11155680" cy="4227461"/>
          </a:xfrm>
          <a:prstGeom prst="rect">
            <a:avLst/>
          </a:prstGeom>
        </p:spPr>
        <p:txBody>
          <a:bodyPr spcFirstLastPara="1" lIns="91425" tIns="45700" rIns="91425" bIns="45700" anchorCtr="0">
            <a:normAutofit fontScale="92500" lnSpcReduction="20000"/>
          </a:bodyPr>
          <a:lstStyle/>
          <a:p>
            <a:pPr marL="228600" lvl="0" indent="-228600">
              <a:lnSpc>
                <a:spcPct val="100000"/>
              </a:lnSpc>
              <a:spcBef>
                <a:spcPts val="0"/>
              </a:spcBef>
              <a:buSzPts val="2800"/>
            </a:pPr>
            <a:r>
              <a:rPr lang="en-GB" dirty="0"/>
              <a:t>Butch – this is used to describe someone who expresses themselves in a typically masculine way. You shouldn’t use this term about someone unless you know they identify with it.</a:t>
            </a:r>
          </a:p>
          <a:p>
            <a:pPr marL="228600" lvl="0" indent="-228600">
              <a:lnSpc>
                <a:spcPct val="100000"/>
              </a:lnSpc>
              <a:buSzPts val="2800"/>
            </a:pPr>
            <a:r>
              <a:rPr lang="en-GB" dirty="0"/>
              <a:t>Femme – this is used to describe someone who expresses themselves in a typically feminine way. As above.</a:t>
            </a:r>
          </a:p>
          <a:p>
            <a:pPr marL="228600" lvl="0" indent="-228600">
              <a:lnSpc>
                <a:spcPct val="100000"/>
              </a:lnSpc>
              <a:buSzPts val="2800"/>
            </a:pPr>
            <a:r>
              <a:rPr lang="en-GB" dirty="0"/>
              <a:t>Homosexual/homosexuality – generally considered a medical term now. People tend to use gay instead. Can reduce the person to purely sexual terms.</a:t>
            </a:r>
          </a:p>
          <a:p>
            <a:pPr marL="228600" lvl="0" indent="-228600">
              <a:lnSpc>
                <a:spcPct val="100000"/>
              </a:lnSpc>
              <a:buSzPts val="2800"/>
            </a:pPr>
            <a:r>
              <a:rPr lang="en-GB" dirty="0"/>
              <a:t>Anything that implies being LGBT+ is a choice e.g. sexual preference or gay lifestyle.</a:t>
            </a:r>
          </a:p>
          <a:p>
            <a:pPr marL="228600" lvl="0" indent="-228600">
              <a:lnSpc>
                <a:spcPct val="100000"/>
              </a:lnSpc>
              <a:buSzPts val="2800"/>
            </a:pPr>
            <a:r>
              <a:rPr lang="en-GB" dirty="0"/>
              <a:t>Anything that implies that bi people are ‘greedy’, ‘undecided’ or ‘going through a phase’.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3"/>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74" name="Rectangle 73">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76" name="Rectangle 75">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4" name="Google Shape;194;p26"/>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Language to avoid cont</a:t>
            </a:r>
            <a:r>
              <a:rPr lang="en-GB" sz="4000" dirty="0"/>
              <a:t>.</a:t>
            </a:r>
          </a:p>
        </p:txBody>
      </p:sp>
      <p:sp>
        <p:nvSpPr>
          <p:cNvPr id="78" name="Rectangle 77">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5" name="Google Shape;195;p26"/>
          <p:cNvSpPr txBox="1">
            <a:spLocks noGrp="1"/>
          </p:cNvSpPr>
          <p:nvPr>
            <p:ph type="body" idx="1"/>
          </p:nvPr>
        </p:nvSpPr>
        <p:spPr>
          <a:xfrm>
            <a:off x="626850" y="2346252"/>
            <a:ext cx="10656846" cy="4188112"/>
          </a:xfrm>
          <a:prstGeom prst="rect">
            <a:avLst/>
          </a:prstGeom>
        </p:spPr>
        <p:txBody>
          <a:bodyPr spcFirstLastPara="1" lIns="91425" tIns="45700" rIns="91425" bIns="45700" anchorCtr="0">
            <a:normAutofit/>
          </a:bodyPr>
          <a:lstStyle/>
          <a:p>
            <a:pPr marL="228600" indent="-228600">
              <a:lnSpc>
                <a:spcPct val="100000"/>
              </a:lnSpc>
              <a:spcBef>
                <a:spcPts val="0"/>
              </a:spcBef>
              <a:spcAft>
                <a:spcPts val="600"/>
              </a:spcAft>
              <a:buSzPts val="2800"/>
            </a:pPr>
            <a:r>
              <a:rPr lang="en-GB" dirty="0"/>
              <a:t>Hermaphrodite for intersex people.</a:t>
            </a:r>
          </a:p>
          <a:p>
            <a:pPr marL="228600" lvl="0" indent="-228600">
              <a:lnSpc>
                <a:spcPct val="100000"/>
              </a:lnSpc>
              <a:spcBef>
                <a:spcPts val="0"/>
              </a:spcBef>
              <a:spcAft>
                <a:spcPts val="600"/>
              </a:spcAft>
              <a:buSzPts val="2800"/>
            </a:pPr>
            <a:r>
              <a:rPr lang="en-GB" dirty="0"/>
              <a:t>Transsexual –  this was used in the past as a medical term. Some people still use it, but many prefer the term trans or transgender.</a:t>
            </a:r>
          </a:p>
          <a:p>
            <a:pPr marL="228600" lvl="0" indent="-228600">
              <a:lnSpc>
                <a:spcPct val="100000"/>
              </a:lnSpc>
              <a:spcBef>
                <a:spcPts val="0"/>
              </a:spcBef>
              <a:spcAft>
                <a:spcPts val="600"/>
              </a:spcAft>
              <a:buSzPts val="2800"/>
            </a:pPr>
            <a:r>
              <a:rPr lang="en-GB" dirty="0"/>
              <a:t>Transgender</a:t>
            </a:r>
            <a:r>
              <a:rPr lang="en-GB" b="1" u="sng" dirty="0"/>
              <a:t>ed</a:t>
            </a:r>
            <a:r>
              <a:rPr lang="en-GB" b="1" dirty="0"/>
              <a:t> </a:t>
            </a:r>
            <a:r>
              <a:rPr lang="en-GB" dirty="0"/>
              <a:t>– suggests a condition of some kind.</a:t>
            </a:r>
          </a:p>
          <a:p>
            <a:pPr marL="228600" indent="-228600">
              <a:lnSpc>
                <a:spcPct val="100000"/>
              </a:lnSpc>
              <a:spcBef>
                <a:spcPts val="0"/>
              </a:spcBef>
              <a:spcAft>
                <a:spcPts val="600"/>
              </a:spcAft>
              <a:buSzPts val="2800"/>
            </a:pPr>
            <a:r>
              <a:rPr lang="en-GB" dirty="0"/>
              <a:t>Transgender</a:t>
            </a:r>
            <a:r>
              <a:rPr lang="en-GB" b="1" u="sng" dirty="0"/>
              <a:t>ism</a:t>
            </a:r>
            <a:r>
              <a:rPr lang="en-GB" dirty="0"/>
              <a:t> – suggests an ‘ideology’ that could be argued against.</a:t>
            </a:r>
          </a:p>
          <a:p>
            <a:pPr marL="228600" lvl="0" indent="-228600">
              <a:lnSpc>
                <a:spcPct val="100000"/>
              </a:lnSpc>
              <a:spcBef>
                <a:spcPts val="0"/>
              </a:spcBef>
              <a:spcAft>
                <a:spcPts val="600"/>
              </a:spcAft>
              <a:buSzPts val="2800"/>
            </a:pPr>
            <a:r>
              <a:rPr lang="en-GB" dirty="0"/>
              <a:t>Transvestite, tranny, or shemale.</a:t>
            </a:r>
          </a:p>
          <a:p>
            <a:pPr marL="228600" lvl="0" indent="-228600">
              <a:lnSpc>
                <a:spcPct val="100000"/>
              </a:lnSpc>
              <a:spcBef>
                <a:spcPts val="0"/>
              </a:spcBef>
              <a:spcAft>
                <a:spcPts val="600"/>
              </a:spcAft>
              <a:buSzPts val="2800"/>
            </a:pPr>
            <a:r>
              <a:rPr lang="en-GB" dirty="0"/>
              <a:t>Sex change, sex-change operation, pre-operative, post-operative. </a:t>
            </a:r>
          </a:p>
          <a:p>
            <a:pPr marL="228600" lvl="0" indent="-228600">
              <a:lnSpc>
                <a:spcPct val="100000"/>
              </a:lnSpc>
              <a:spcBef>
                <a:spcPts val="0"/>
              </a:spcBef>
              <a:spcAft>
                <a:spcPts val="600"/>
              </a:spcAft>
              <a:buSzPts val="2800"/>
            </a:pPr>
            <a:r>
              <a:rPr lang="en-GB" dirty="0"/>
              <a:t>Don’t deadname or misgender.</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6. Ally Best Practice &amp; Scenarios</a:t>
            </a:r>
          </a:p>
        </p:txBody>
      </p:sp>
    </p:spTree>
    <p:extLst>
      <p:ext uri="{BB962C8B-B14F-4D97-AF65-F5344CB8AC3E}">
        <p14:creationId xmlns:p14="http://schemas.microsoft.com/office/powerpoint/2010/main" val="30128283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99"/>
        <p:cNvGrpSpPr/>
        <p:nvPr/>
      </p:nvGrpSpPr>
      <p:grpSpPr>
        <a:xfrm>
          <a:off x="0" y="0"/>
          <a:ext cx="0" cy="0"/>
          <a:chOff x="0" y="0"/>
          <a:chExt cx="0" cy="0"/>
        </a:xfrm>
      </p:grpSpPr>
      <p:sp useBgFill="1">
        <p:nvSpPr>
          <p:cNvPr id="78" name="Rectangle 7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80" name="Rectangle 7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82" name="Rectangle 8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0" name="Google Shape;200;p27"/>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Best Practice</a:t>
            </a:r>
            <a:endParaRPr lang="en-GB" sz="4000" dirty="0"/>
          </a:p>
        </p:txBody>
      </p:sp>
      <p:sp>
        <p:nvSpPr>
          <p:cNvPr id="84" name="Rectangle 8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01" name="Google Shape;201;p27"/>
          <p:cNvSpPr txBox="1">
            <a:spLocks noGrp="1"/>
          </p:cNvSpPr>
          <p:nvPr>
            <p:ph type="body" idx="1"/>
          </p:nvPr>
        </p:nvSpPr>
        <p:spPr>
          <a:xfrm>
            <a:off x="484113" y="2159491"/>
            <a:ext cx="11223774" cy="4572000"/>
          </a:xfrm>
          <a:prstGeom prst="rect">
            <a:avLst/>
          </a:prstGeom>
        </p:spPr>
        <p:txBody>
          <a:bodyPr spcFirstLastPara="1" lIns="91425" tIns="45700" rIns="91425" bIns="45700" anchorCtr="0">
            <a:normAutofit/>
          </a:bodyPr>
          <a:lstStyle/>
          <a:p>
            <a:pPr marL="228600" lvl="0" indent="-228600" rtl="0">
              <a:spcBef>
                <a:spcPts val="600"/>
              </a:spcBef>
              <a:spcAft>
                <a:spcPts val="0"/>
              </a:spcAft>
              <a:buClr>
                <a:schemeClr val="dk1"/>
              </a:buClr>
              <a:buSzPts val="2800"/>
              <a:buChar char="•"/>
            </a:pPr>
            <a:r>
              <a:rPr lang="en-GB" sz="2400" dirty="0"/>
              <a:t>Use the right language and listen actively to the language others use</a:t>
            </a:r>
          </a:p>
          <a:p>
            <a:pPr marL="228600" lvl="0" indent="-228600" rtl="0">
              <a:spcBef>
                <a:spcPts val="600"/>
              </a:spcBef>
              <a:spcAft>
                <a:spcPts val="0"/>
              </a:spcAft>
              <a:buClr>
                <a:schemeClr val="dk1"/>
              </a:buClr>
              <a:buSzPts val="2800"/>
              <a:buChar char="•"/>
            </a:pPr>
            <a:r>
              <a:rPr lang="en-GB" sz="2400" dirty="0"/>
              <a:t>Be clearly and openly supportive, sharing personal experiences:</a:t>
            </a:r>
          </a:p>
          <a:p>
            <a:pPr marL="685800" lvl="1" indent="-228600">
              <a:spcBef>
                <a:spcPts val="600"/>
              </a:spcBef>
              <a:buSzPts val="2800"/>
            </a:pPr>
            <a:r>
              <a:rPr lang="en-GB" dirty="0"/>
              <a:t>Rainbow lanyards, email signatures, join the LGBT+ network</a:t>
            </a:r>
          </a:p>
          <a:p>
            <a:pPr marL="685800" lvl="1" indent="-228600">
              <a:spcBef>
                <a:spcPts val="600"/>
              </a:spcBef>
              <a:buSzPts val="2800"/>
            </a:pPr>
            <a:r>
              <a:rPr lang="en-GB" dirty="0"/>
              <a:t>Tell your colleagues you have completed the training!</a:t>
            </a:r>
          </a:p>
          <a:p>
            <a:pPr marL="228600" lvl="0" indent="-228600" rtl="0">
              <a:spcBef>
                <a:spcPts val="600"/>
              </a:spcBef>
              <a:spcAft>
                <a:spcPts val="0"/>
              </a:spcAft>
              <a:buClr>
                <a:schemeClr val="dk1"/>
              </a:buClr>
              <a:buSzPts val="2800"/>
              <a:buChar char="•"/>
            </a:pPr>
            <a:r>
              <a:rPr lang="en-GB" sz="2400" dirty="0"/>
              <a:t>Understand your own unconscious bias</a:t>
            </a:r>
          </a:p>
          <a:p>
            <a:pPr marL="228600" lvl="0" indent="-228600" rtl="0">
              <a:spcBef>
                <a:spcPts val="600"/>
              </a:spcBef>
              <a:spcAft>
                <a:spcPts val="0"/>
              </a:spcAft>
              <a:buClr>
                <a:schemeClr val="dk1"/>
              </a:buClr>
              <a:buSzPts val="2800"/>
              <a:buChar char="•"/>
            </a:pPr>
            <a:r>
              <a:rPr lang="en-GB" sz="2400" dirty="0"/>
              <a:t>Challenge inappropriate language/comments</a:t>
            </a:r>
          </a:p>
          <a:p>
            <a:pPr marL="228600" lvl="0" indent="-228600" rtl="0">
              <a:spcBef>
                <a:spcPts val="600"/>
              </a:spcBef>
              <a:spcAft>
                <a:spcPts val="0"/>
              </a:spcAft>
              <a:buClr>
                <a:schemeClr val="dk1"/>
              </a:buClr>
              <a:buSzPts val="2800"/>
              <a:buChar char="•"/>
            </a:pPr>
            <a:r>
              <a:rPr lang="en-GB" sz="2400" dirty="0"/>
              <a:t>Ask about pronouns and introduce your own</a:t>
            </a:r>
          </a:p>
          <a:p>
            <a:pPr marL="228600" lvl="0" indent="-228600" rtl="0">
              <a:spcBef>
                <a:spcPts val="600"/>
              </a:spcBef>
              <a:spcAft>
                <a:spcPts val="0"/>
              </a:spcAft>
              <a:buClr>
                <a:schemeClr val="dk1"/>
              </a:buClr>
              <a:buSzPts val="2800"/>
              <a:buChar char="•"/>
            </a:pPr>
            <a:r>
              <a:rPr lang="en-GB" sz="2400" dirty="0"/>
              <a:t>Be aware of intersectionality and the dual discrimination some LGBT+ people may face</a:t>
            </a:r>
          </a:p>
          <a:p>
            <a:pPr marL="228600" lvl="0" indent="-228600" rtl="0">
              <a:spcBef>
                <a:spcPts val="600"/>
              </a:spcBef>
              <a:spcAft>
                <a:spcPts val="0"/>
              </a:spcAft>
              <a:buClr>
                <a:schemeClr val="dk1"/>
              </a:buClr>
              <a:buSzPts val="2800"/>
              <a:buChar char="•"/>
            </a:pPr>
            <a:r>
              <a:rPr lang="en-GB" sz="2400" dirty="0"/>
              <a:t>Pick up on neutral language – don’t assume the gender of a person’s partner</a:t>
            </a:r>
          </a:p>
          <a:p>
            <a:pPr marL="228600" lvl="0" indent="-228600" rtl="0">
              <a:spcBef>
                <a:spcPts val="600"/>
              </a:spcBef>
              <a:spcAft>
                <a:spcPts val="0"/>
              </a:spcAft>
              <a:buClr>
                <a:schemeClr val="dk1"/>
              </a:buClr>
              <a:buSzPts val="2800"/>
              <a:buChar char="•"/>
            </a:pPr>
            <a:r>
              <a:rPr lang="en-GB" sz="2400" dirty="0"/>
              <a:t>If you’re not sure, ask! But avoid intimate questions about body parts, sex life, relationships etc.</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229"/>
        <p:cNvGrpSpPr/>
        <p:nvPr/>
      </p:nvGrpSpPr>
      <p:grpSpPr>
        <a:xfrm>
          <a:off x="0" y="0"/>
          <a:ext cx="0" cy="0"/>
          <a:chOff x="0" y="0"/>
          <a:chExt cx="0" cy="0"/>
        </a:xfrm>
      </p:grpSpPr>
      <p:sp useBgFill="1">
        <p:nvSpPr>
          <p:cNvPr id="108" name="Rectangle 10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10" name="Rectangle 10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12" name="Rectangle 1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0" name="Google Shape;230;p32"/>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How would you react? Scenario 1</a:t>
            </a:r>
            <a:endParaRPr lang="en-GB" sz="4000" dirty="0"/>
          </a:p>
        </p:txBody>
      </p:sp>
      <p:sp>
        <p:nvSpPr>
          <p:cNvPr id="114" name="Rectangle 1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231" name="Google Shape;231;p32"/>
          <p:cNvSpPr txBox="1">
            <a:spLocks noGrp="1"/>
          </p:cNvSpPr>
          <p:nvPr>
            <p:ph type="body" idx="1"/>
          </p:nvPr>
        </p:nvSpPr>
        <p:spPr>
          <a:xfrm>
            <a:off x="1115568" y="2481943"/>
            <a:ext cx="10168128" cy="3695020"/>
          </a:xfrm>
          <a:prstGeom prst="rect">
            <a:avLst/>
          </a:prstGeom>
        </p:spPr>
        <p:txBody>
          <a:bodyPr spcFirstLastPara="1" lIns="91425" tIns="45700" rIns="91425" bIns="45700" anchorCtr="0">
            <a:normAutofit/>
          </a:bodyPr>
          <a:lstStyle/>
          <a:p>
            <a:pPr marL="177800" indent="0">
              <a:spcBef>
                <a:spcPts val="0"/>
              </a:spcBef>
              <a:spcAft>
                <a:spcPts val="1800"/>
              </a:spcAft>
              <a:buSzPts val="2800"/>
              <a:buNone/>
            </a:pPr>
            <a:r>
              <a:rPr lang="en-GB" dirty="0"/>
              <a:t>Your department is running a pilot of gender-neutral toilets and this has caused quite a stir in the office…</a:t>
            </a:r>
          </a:p>
          <a:p>
            <a:pPr marL="177800" indent="0">
              <a:spcBef>
                <a:spcPts val="0"/>
              </a:spcBef>
              <a:spcAft>
                <a:spcPts val="1800"/>
              </a:spcAft>
              <a:buSzPts val="2800"/>
              <a:buNone/>
            </a:pPr>
            <a:r>
              <a:rPr lang="en-GB" dirty="0"/>
              <a:t>Your colleague mentions to you that they “don’t believe in transgendered people” and that the toilets are a total waste of taxpayers’ money. </a:t>
            </a:r>
          </a:p>
          <a:p>
            <a:pPr marL="177800" indent="0">
              <a:spcBef>
                <a:spcPts val="0"/>
              </a:spcBef>
              <a:spcAft>
                <a:spcPts val="1800"/>
              </a:spcAft>
              <a:buSzPts val="2800"/>
              <a:buNone/>
            </a:pPr>
            <a:r>
              <a:rPr lang="en-GB" dirty="0"/>
              <a:t>How do you respond?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GB" sz="4000" b="1" dirty="0"/>
              <a:t>How would you react? Scenario 2</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Text Placeholder 2"/>
          <p:cNvSpPr>
            <a:spLocks noGrp="1"/>
          </p:cNvSpPr>
          <p:nvPr>
            <p:ph type="body" idx="1"/>
          </p:nvPr>
        </p:nvSpPr>
        <p:spPr>
          <a:xfrm>
            <a:off x="626850" y="2481943"/>
            <a:ext cx="10656846" cy="3695020"/>
          </a:xfrm>
        </p:spPr>
        <p:txBody>
          <a:bodyPr>
            <a:normAutofit/>
          </a:bodyPr>
          <a:lstStyle/>
          <a:p>
            <a:pPr marL="114300" indent="0">
              <a:spcBef>
                <a:spcPts val="0"/>
              </a:spcBef>
              <a:spcAft>
                <a:spcPts val="1800"/>
              </a:spcAft>
              <a:buNone/>
            </a:pPr>
            <a:r>
              <a:rPr lang="en-GB" dirty="0"/>
              <a:t>You overhear one of your colleagues mentioning to your line manager that they are unhappy at work due to assumptions being made about their sexuality by their team.</a:t>
            </a:r>
          </a:p>
          <a:p>
            <a:pPr marL="114300" indent="0">
              <a:spcBef>
                <a:spcPts val="0"/>
              </a:spcBef>
              <a:spcAft>
                <a:spcPts val="1800"/>
              </a:spcAft>
              <a:buNone/>
            </a:pPr>
            <a:r>
              <a:rPr lang="en-GB" dirty="0"/>
              <a:t>Recalling previous conversations you have had with this colleague, you realise you may have done so yourself.</a:t>
            </a:r>
          </a:p>
          <a:p>
            <a:pPr marL="114300" indent="0">
              <a:spcBef>
                <a:spcPts val="0"/>
              </a:spcBef>
              <a:spcAft>
                <a:spcPts val="1800"/>
              </a:spcAft>
              <a:buNone/>
            </a:pPr>
            <a:r>
              <a:rPr lang="en-GB" dirty="0"/>
              <a:t>How do you proceed?</a:t>
            </a:r>
          </a:p>
        </p:txBody>
      </p:sp>
    </p:spTree>
    <p:extLst>
      <p:ext uri="{BB962C8B-B14F-4D97-AF65-F5344CB8AC3E}">
        <p14:creationId xmlns:p14="http://schemas.microsoft.com/office/powerpoint/2010/main" val="6243904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2" name="Rectangle 11">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115568" y="548640"/>
            <a:ext cx="10168128" cy="1179576"/>
          </a:xfrm>
        </p:spPr>
        <p:txBody>
          <a:bodyPr>
            <a:normAutofit/>
          </a:bodyPr>
          <a:lstStyle/>
          <a:p>
            <a:r>
              <a:rPr lang="en-GB" sz="4000" b="1" dirty="0"/>
              <a:t>How would you react? Scenario 3</a:t>
            </a:r>
            <a:endParaRPr lang="en-GB" sz="4000" dirty="0"/>
          </a:p>
        </p:txBody>
      </p:sp>
      <p:sp>
        <p:nvSpPr>
          <p:cNvPr id="14" name="Rectangle 13">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Text Placeholder 2"/>
          <p:cNvSpPr>
            <a:spLocks noGrp="1"/>
          </p:cNvSpPr>
          <p:nvPr>
            <p:ph type="body" idx="1"/>
          </p:nvPr>
        </p:nvSpPr>
        <p:spPr>
          <a:xfrm>
            <a:off x="566928" y="2481943"/>
            <a:ext cx="11238992" cy="3695020"/>
          </a:xfrm>
        </p:spPr>
        <p:txBody>
          <a:bodyPr>
            <a:normAutofit/>
          </a:bodyPr>
          <a:lstStyle/>
          <a:p>
            <a:pPr marL="114300" indent="0">
              <a:spcBef>
                <a:spcPts val="0"/>
              </a:spcBef>
              <a:spcAft>
                <a:spcPts val="1800"/>
              </a:spcAft>
              <a:buNone/>
            </a:pPr>
            <a:r>
              <a:rPr lang="en-GB" dirty="0"/>
              <a:t>Noticing your rainbow lanyard, one of your colleagues confronts you, arguing that gay rights are “sorted now” and that an unfair amount of attention is given to the “LGBT+ lifestyle”.</a:t>
            </a:r>
          </a:p>
          <a:p>
            <a:pPr marL="114300" indent="0">
              <a:spcBef>
                <a:spcPts val="0"/>
              </a:spcBef>
              <a:spcAft>
                <a:spcPts val="1800"/>
              </a:spcAft>
              <a:buNone/>
            </a:pPr>
            <a:r>
              <a:rPr lang="en-GB" dirty="0"/>
              <a:t>They argue that there are other underrepresented groups that need more support than the LGBT+ community, and other more pressing issues.</a:t>
            </a:r>
          </a:p>
          <a:p>
            <a:pPr marL="114300" indent="0">
              <a:spcBef>
                <a:spcPts val="0"/>
              </a:spcBef>
              <a:spcAft>
                <a:spcPts val="1800"/>
              </a:spcAft>
              <a:buNone/>
            </a:pPr>
            <a:r>
              <a:rPr lang="en-GB" dirty="0"/>
              <a:t>How do you respond?</a:t>
            </a:r>
          </a:p>
        </p:txBody>
      </p:sp>
    </p:spTree>
    <p:extLst>
      <p:ext uri="{BB962C8B-B14F-4D97-AF65-F5344CB8AC3E}">
        <p14:creationId xmlns:p14="http://schemas.microsoft.com/office/powerpoint/2010/main" val="25510685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9E607-E312-4D55-90CE-4CCF90AB72DB}"/>
              </a:ext>
            </a:extLst>
          </p:cNvPr>
          <p:cNvSpPr>
            <a:spLocks noGrp="1"/>
          </p:cNvSpPr>
          <p:nvPr>
            <p:ph type="title"/>
          </p:nvPr>
        </p:nvSpPr>
        <p:spPr/>
        <p:txBody>
          <a:bodyPr/>
          <a:lstStyle/>
          <a:p>
            <a:pPr algn="ctr"/>
            <a:r>
              <a:rPr lang="en-GB" b="1" dirty="0"/>
              <a:t>7. End</a:t>
            </a:r>
          </a:p>
        </p:txBody>
      </p:sp>
    </p:spTree>
    <p:extLst>
      <p:ext uri="{BB962C8B-B14F-4D97-AF65-F5344CB8AC3E}">
        <p14:creationId xmlns:p14="http://schemas.microsoft.com/office/powerpoint/2010/main" val="347901000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3"/>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2" name="Rectangle 10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04" name="Rectangle 10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Google Shape;94;p14"/>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Objectives – recap</a:t>
            </a:r>
            <a:endParaRPr lang="en-GB" sz="4000" dirty="0"/>
          </a:p>
        </p:txBody>
      </p:sp>
      <p:sp>
        <p:nvSpPr>
          <p:cNvPr id="106" name="Rectangle 10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95" name="Google Shape;95;p14"/>
          <p:cNvSpPr txBox="1">
            <a:spLocks noGrp="1"/>
          </p:cNvSpPr>
          <p:nvPr>
            <p:ph type="body" idx="1"/>
          </p:nvPr>
        </p:nvSpPr>
        <p:spPr>
          <a:xfrm>
            <a:off x="626850" y="2481943"/>
            <a:ext cx="10656846" cy="3695020"/>
          </a:xfrm>
          <a:prstGeom prst="rect">
            <a:avLst/>
          </a:prstGeom>
        </p:spPr>
        <p:txBody>
          <a:bodyPr spcFirstLastPara="1" lIns="91425" tIns="45700" rIns="91425" bIns="45700" anchorCtr="0">
            <a:normAutofit fontScale="92500" lnSpcReduction="10000"/>
          </a:bodyPr>
          <a:lstStyle/>
          <a:p>
            <a:pPr marL="635000" indent="-457200">
              <a:spcBef>
                <a:spcPts val="0"/>
              </a:spcBef>
              <a:spcAft>
                <a:spcPts val="600"/>
              </a:spcAft>
              <a:buSzPts val="2800"/>
            </a:pPr>
            <a:r>
              <a:rPr lang="en-GB" sz="3200" dirty="0"/>
              <a:t>To understand the context of LGBT+ rights and inclusion and why ally training is necessary </a:t>
            </a:r>
          </a:p>
          <a:p>
            <a:pPr marL="635000" indent="-457200">
              <a:spcBef>
                <a:spcPts val="0"/>
              </a:spcBef>
              <a:spcAft>
                <a:spcPts val="600"/>
              </a:spcAft>
              <a:buSzPts val="2800"/>
            </a:pPr>
            <a:endParaRPr lang="en-GB" sz="3200" dirty="0"/>
          </a:p>
          <a:p>
            <a:pPr marL="635000" indent="-457200">
              <a:spcBef>
                <a:spcPts val="0"/>
              </a:spcBef>
              <a:spcAft>
                <a:spcPts val="600"/>
              </a:spcAft>
              <a:buSzPts val="2800"/>
            </a:pPr>
            <a:r>
              <a:rPr lang="en-GB" sz="3200" dirty="0"/>
              <a:t>To know what language to use and avoid</a:t>
            </a:r>
          </a:p>
          <a:p>
            <a:pPr marL="635000" indent="-457200">
              <a:spcBef>
                <a:spcPts val="0"/>
              </a:spcBef>
              <a:spcAft>
                <a:spcPts val="600"/>
              </a:spcAft>
              <a:buSzPts val="2800"/>
            </a:pPr>
            <a:endParaRPr lang="en-GB" sz="3200" dirty="0"/>
          </a:p>
          <a:p>
            <a:pPr marL="635000" indent="-457200">
              <a:spcBef>
                <a:spcPts val="0"/>
              </a:spcBef>
              <a:spcAft>
                <a:spcPts val="600"/>
              </a:spcAft>
              <a:buSzPts val="2800"/>
            </a:pPr>
            <a:r>
              <a:rPr lang="en-GB" sz="3200" dirty="0"/>
              <a:t>To know best practice for being an ally</a:t>
            </a:r>
          </a:p>
          <a:p>
            <a:pPr marL="635000" indent="-457200">
              <a:spcBef>
                <a:spcPts val="0"/>
              </a:spcBef>
              <a:spcAft>
                <a:spcPts val="600"/>
              </a:spcAft>
              <a:buSzPts val="2800"/>
            </a:pPr>
            <a:endParaRPr lang="en-GB" sz="3200" dirty="0"/>
          </a:p>
          <a:p>
            <a:pPr marL="635000" indent="-457200">
              <a:spcBef>
                <a:spcPts val="0"/>
              </a:spcBef>
              <a:spcAft>
                <a:spcPts val="600"/>
              </a:spcAft>
              <a:buSzPts val="2800"/>
            </a:pPr>
            <a:r>
              <a:rPr lang="en-GB" sz="3200" dirty="0"/>
              <a:t>To explore how to be an ally in practice</a:t>
            </a:r>
          </a:p>
        </p:txBody>
      </p:sp>
    </p:spTree>
    <p:extLst>
      <p:ext uri="{BB962C8B-B14F-4D97-AF65-F5344CB8AC3E}">
        <p14:creationId xmlns:p14="http://schemas.microsoft.com/office/powerpoint/2010/main" val="8434082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3"/>
        <p:cNvGrpSpPr/>
        <p:nvPr/>
      </p:nvGrpSpPr>
      <p:grpSpPr>
        <a:xfrm>
          <a:off x="0" y="0"/>
          <a:ext cx="0" cy="0"/>
          <a:chOff x="0" y="0"/>
          <a:chExt cx="0" cy="0"/>
        </a:xfrm>
      </p:grpSpPr>
      <p:sp useBgFill="1">
        <p:nvSpPr>
          <p:cNvPr id="100" name="Rectangle 9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2" name="Rectangle 10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useBgFill="1">
        <p:nvSpPr>
          <p:cNvPr id="104" name="Rectangle 10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4" name="Google Shape;94;p14"/>
          <p:cNvSpPr txBox="1">
            <a:spLocks noGrp="1"/>
          </p:cNvSpPr>
          <p:nvPr>
            <p:ph type="title"/>
          </p:nvPr>
        </p:nvSpPr>
        <p:spPr>
          <a:xfrm>
            <a:off x="1115568" y="548640"/>
            <a:ext cx="10168128" cy="1179576"/>
          </a:xfrm>
          <a:prstGeom prst="rect">
            <a:avLst/>
          </a:prstGeom>
        </p:spPr>
        <p:txBody>
          <a:bodyPr spcFirstLastPara="1" lIns="91425" tIns="45700" rIns="91425" bIns="45700" anchorCtr="0">
            <a:normAutofit/>
          </a:bodyPr>
          <a:lstStyle/>
          <a:p>
            <a:pPr marL="0" lvl="0" indent="0" rtl="0">
              <a:spcBef>
                <a:spcPts val="0"/>
              </a:spcBef>
              <a:spcAft>
                <a:spcPts val="0"/>
              </a:spcAft>
              <a:buClr>
                <a:schemeClr val="dk1"/>
              </a:buClr>
              <a:buSzPts val="4400"/>
              <a:buFont typeface="Calibri"/>
              <a:buNone/>
            </a:pPr>
            <a:r>
              <a:rPr lang="en-GB" sz="4000" b="1" dirty="0"/>
              <a:t>To finish…</a:t>
            </a:r>
            <a:endParaRPr lang="en-GB" sz="4000" dirty="0"/>
          </a:p>
        </p:txBody>
      </p:sp>
      <p:sp>
        <p:nvSpPr>
          <p:cNvPr id="106" name="Rectangle 10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95" name="Google Shape;95;p14"/>
          <p:cNvSpPr txBox="1">
            <a:spLocks noGrp="1"/>
          </p:cNvSpPr>
          <p:nvPr>
            <p:ph type="body" idx="1"/>
          </p:nvPr>
        </p:nvSpPr>
        <p:spPr>
          <a:xfrm>
            <a:off x="626850" y="3262811"/>
            <a:ext cx="10656846" cy="1175592"/>
          </a:xfrm>
          <a:prstGeom prst="rect">
            <a:avLst/>
          </a:prstGeom>
        </p:spPr>
        <p:txBody>
          <a:bodyPr spcFirstLastPara="1" lIns="91425" tIns="45700" rIns="91425" bIns="45700" anchorCtr="0">
            <a:normAutofit/>
          </a:bodyPr>
          <a:lstStyle/>
          <a:p>
            <a:pPr marL="177800" indent="0" algn="ctr">
              <a:spcBef>
                <a:spcPts val="0"/>
              </a:spcBef>
              <a:spcAft>
                <a:spcPts val="600"/>
              </a:spcAft>
              <a:buSzPts val="2800"/>
              <a:buNone/>
            </a:pPr>
            <a:r>
              <a:rPr lang="en-GB" sz="3200" dirty="0"/>
              <a:t>List 3 ways of being an ally with the person next to you. Be prepared to share with the group.</a:t>
            </a:r>
          </a:p>
        </p:txBody>
      </p:sp>
      <p:sp>
        <p:nvSpPr>
          <p:cNvPr id="2" name="TextBox 1">
            <a:extLst>
              <a:ext uri="{FF2B5EF4-FFF2-40B4-BE49-F238E27FC236}">
                <a16:creationId xmlns:a16="http://schemas.microsoft.com/office/drawing/2014/main" id="{0ACB655D-66F9-477D-83C9-831F941D82E9}"/>
              </a:ext>
            </a:extLst>
          </p:cNvPr>
          <p:cNvSpPr txBox="1"/>
          <p:nvPr/>
        </p:nvSpPr>
        <p:spPr>
          <a:xfrm>
            <a:off x="8905459" y="5236463"/>
            <a:ext cx="2894275"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Get the language right.</a:t>
            </a:r>
          </a:p>
        </p:txBody>
      </p:sp>
      <p:sp>
        <p:nvSpPr>
          <p:cNvPr id="9" name="TextBox 8">
            <a:extLst>
              <a:ext uri="{FF2B5EF4-FFF2-40B4-BE49-F238E27FC236}">
                <a16:creationId xmlns:a16="http://schemas.microsoft.com/office/drawing/2014/main" id="{F41F04B5-D04B-45A2-954E-5390E8CA2E05}"/>
              </a:ext>
            </a:extLst>
          </p:cNvPr>
          <p:cNvSpPr txBox="1"/>
          <p:nvPr/>
        </p:nvSpPr>
        <p:spPr>
          <a:xfrm>
            <a:off x="428069" y="5869564"/>
            <a:ext cx="3065781"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Listen to LGBT+ colleagues.</a:t>
            </a:r>
          </a:p>
        </p:txBody>
      </p:sp>
      <p:sp>
        <p:nvSpPr>
          <p:cNvPr id="10" name="TextBox 9">
            <a:extLst>
              <a:ext uri="{FF2B5EF4-FFF2-40B4-BE49-F238E27FC236}">
                <a16:creationId xmlns:a16="http://schemas.microsoft.com/office/drawing/2014/main" id="{0E4203BA-C6FA-4AA1-8C1D-96569EC13369}"/>
              </a:ext>
            </a:extLst>
          </p:cNvPr>
          <p:cNvSpPr txBox="1"/>
          <p:nvPr/>
        </p:nvSpPr>
        <p:spPr>
          <a:xfrm>
            <a:off x="7904921" y="4453601"/>
            <a:ext cx="2894275"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Ask about pronouns.</a:t>
            </a:r>
          </a:p>
        </p:txBody>
      </p:sp>
      <p:sp>
        <p:nvSpPr>
          <p:cNvPr id="11" name="TextBox 10">
            <a:extLst>
              <a:ext uri="{FF2B5EF4-FFF2-40B4-BE49-F238E27FC236}">
                <a16:creationId xmlns:a16="http://schemas.microsoft.com/office/drawing/2014/main" id="{E4784D4F-0AA6-405E-930A-EA6098CC83DC}"/>
              </a:ext>
            </a:extLst>
          </p:cNvPr>
          <p:cNvSpPr txBox="1"/>
          <p:nvPr/>
        </p:nvSpPr>
        <p:spPr>
          <a:xfrm>
            <a:off x="1240549" y="4997519"/>
            <a:ext cx="2894275" cy="40011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Don’t make assumptions.</a:t>
            </a:r>
          </a:p>
        </p:txBody>
      </p:sp>
      <p:sp>
        <p:nvSpPr>
          <p:cNvPr id="12" name="TextBox 11">
            <a:extLst>
              <a:ext uri="{FF2B5EF4-FFF2-40B4-BE49-F238E27FC236}">
                <a16:creationId xmlns:a16="http://schemas.microsoft.com/office/drawing/2014/main" id="{1A3AE46A-313D-4E41-A7B0-C86D1846E827}"/>
              </a:ext>
            </a:extLst>
          </p:cNvPr>
          <p:cNvSpPr txBox="1"/>
          <p:nvPr/>
        </p:nvSpPr>
        <p:spPr>
          <a:xfrm>
            <a:off x="8914737" y="2364316"/>
            <a:ext cx="2894275"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Be visible by wearing a rainbow lanyard.</a:t>
            </a:r>
          </a:p>
        </p:txBody>
      </p:sp>
      <p:sp>
        <p:nvSpPr>
          <p:cNvPr id="13" name="TextBox 12">
            <a:extLst>
              <a:ext uri="{FF2B5EF4-FFF2-40B4-BE49-F238E27FC236}">
                <a16:creationId xmlns:a16="http://schemas.microsoft.com/office/drawing/2014/main" id="{8B5EAE0D-1E47-429E-9FE7-9AB054E03F59}"/>
              </a:ext>
            </a:extLst>
          </p:cNvPr>
          <p:cNvSpPr txBox="1"/>
          <p:nvPr/>
        </p:nvSpPr>
        <p:spPr>
          <a:xfrm>
            <a:off x="428069" y="3921126"/>
            <a:ext cx="2259618"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Confront your own prejudices and bias.</a:t>
            </a:r>
          </a:p>
        </p:txBody>
      </p:sp>
      <p:sp>
        <p:nvSpPr>
          <p:cNvPr id="14" name="TextBox 13">
            <a:extLst>
              <a:ext uri="{FF2B5EF4-FFF2-40B4-BE49-F238E27FC236}">
                <a16:creationId xmlns:a16="http://schemas.microsoft.com/office/drawing/2014/main" id="{BAA21C1D-9AB4-442B-A236-75D0269D7825}"/>
              </a:ext>
            </a:extLst>
          </p:cNvPr>
          <p:cNvSpPr txBox="1"/>
          <p:nvPr/>
        </p:nvSpPr>
        <p:spPr>
          <a:xfrm>
            <a:off x="4581292" y="4438403"/>
            <a:ext cx="2430562" cy="163121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Be educated about the prejudice and discrimination faced by the LGBT+ community.</a:t>
            </a:r>
          </a:p>
        </p:txBody>
      </p:sp>
      <p:sp>
        <p:nvSpPr>
          <p:cNvPr id="15" name="TextBox 14">
            <a:extLst>
              <a:ext uri="{FF2B5EF4-FFF2-40B4-BE49-F238E27FC236}">
                <a16:creationId xmlns:a16="http://schemas.microsoft.com/office/drawing/2014/main" id="{4141B172-76AF-49E8-B12E-032E58592DEE}"/>
              </a:ext>
            </a:extLst>
          </p:cNvPr>
          <p:cNvSpPr txBox="1"/>
          <p:nvPr/>
        </p:nvSpPr>
        <p:spPr>
          <a:xfrm>
            <a:off x="626850" y="2260463"/>
            <a:ext cx="3560859"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Be aware of layers of intersectional discrimination.</a:t>
            </a:r>
          </a:p>
        </p:txBody>
      </p:sp>
      <p:sp>
        <p:nvSpPr>
          <p:cNvPr id="16" name="TextBox 15">
            <a:extLst>
              <a:ext uri="{FF2B5EF4-FFF2-40B4-BE49-F238E27FC236}">
                <a16:creationId xmlns:a16="http://schemas.microsoft.com/office/drawing/2014/main" id="{FB588D81-2E69-49AE-AA2F-8DEC49D9C27B}"/>
              </a:ext>
            </a:extLst>
          </p:cNvPr>
          <p:cNvSpPr txBox="1"/>
          <p:nvPr/>
        </p:nvSpPr>
        <p:spPr>
          <a:xfrm>
            <a:off x="7467599" y="5909250"/>
            <a:ext cx="2894275"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Ask for help if you’re unsure about something.</a:t>
            </a:r>
          </a:p>
        </p:txBody>
      </p:sp>
      <p:sp>
        <p:nvSpPr>
          <p:cNvPr id="17" name="TextBox 16">
            <a:extLst>
              <a:ext uri="{FF2B5EF4-FFF2-40B4-BE49-F238E27FC236}">
                <a16:creationId xmlns:a16="http://schemas.microsoft.com/office/drawing/2014/main" id="{64274015-4003-4891-8E34-DF894C91274A}"/>
              </a:ext>
            </a:extLst>
          </p:cNvPr>
          <p:cNvSpPr txBox="1"/>
          <p:nvPr/>
        </p:nvSpPr>
        <p:spPr>
          <a:xfrm>
            <a:off x="5010646" y="2421164"/>
            <a:ext cx="2894275" cy="707886"/>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ctr"/>
            <a:r>
              <a:rPr lang="en-GB" sz="2000" dirty="0">
                <a:latin typeface="Calibri" panose="020F0502020204030204" pitchFamily="34" charset="0"/>
                <a:cs typeface="Calibri" panose="020F0502020204030204" pitchFamily="34" charset="0"/>
              </a:rPr>
              <a:t>Challenge inappropriate language or comments.</a:t>
            </a:r>
          </a:p>
        </p:txBody>
      </p:sp>
    </p:spTree>
    <p:extLst>
      <p:ext uri="{BB962C8B-B14F-4D97-AF65-F5344CB8AC3E}">
        <p14:creationId xmlns:p14="http://schemas.microsoft.com/office/powerpoint/2010/main" val="1907197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animBg="1"/>
      <p:bldP spid="10" grpId="0" animBg="1"/>
      <p:bldP spid="11" grpId="0" animBg="1"/>
      <p:bldP spid="12" grpId="0" animBg="1"/>
      <p:bldP spid="13" grpId="0" animBg="1"/>
      <p:bldP spid="14" grpId="0" animBg="1"/>
      <p:bldP spid="15" grpId="0" animBg="1"/>
      <p:bldP spid="16" grpId="0" animBg="1"/>
      <p:bldP spid="1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5" name="Rectangle 134">
            <a:extLst>
              <a:ext uri="{FF2B5EF4-FFF2-40B4-BE49-F238E27FC236}">
                <a16:creationId xmlns:a16="http://schemas.microsoft.com/office/drawing/2014/main" id="{2C9A9DA9-7DC8-488B-A882-123947B0F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37" name="Rectangle 136">
            <a:extLst>
              <a:ext uri="{FF2B5EF4-FFF2-40B4-BE49-F238E27FC236}">
                <a16:creationId xmlns:a16="http://schemas.microsoft.com/office/drawing/2014/main" id="{57F6BDD4-E066-4008-8011-6CC31AEB45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9575" y="633619"/>
            <a:ext cx="4279383" cy="5495925"/>
          </a:xfrm>
          <a:prstGeom prst="rect">
            <a:avLst/>
          </a:prstGeom>
          <a:ln w="9525">
            <a:solidFill>
              <a:srgbClr val="EFEFEF"/>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3DFBDE-21A5-40BC-9AE5-A683889DA64A}"/>
              </a:ext>
            </a:extLst>
          </p:cNvPr>
          <p:cNvSpPr>
            <a:spLocks noGrp="1"/>
          </p:cNvSpPr>
          <p:nvPr>
            <p:ph type="title"/>
          </p:nvPr>
        </p:nvSpPr>
        <p:spPr>
          <a:xfrm>
            <a:off x="841247" y="978619"/>
            <a:ext cx="3410712" cy="1106424"/>
          </a:xfrm>
        </p:spPr>
        <p:txBody>
          <a:bodyPr>
            <a:normAutofit/>
          </a:bodyPr>
          <a:lstStyle/>
          <a:p>
            <a:r>
              <a:rPr lang="en-GB" sz="4000" b="1" dirty="0"/>
              <a:t>Thank you!</a:t>
            </a:r>
          </a:p>
        </p:txBody>
      </p:sp>
      <p:sp>
        <p:nvSpPr>
          <p:cNvPr id="139" name="Rectangle 138">
            <a:extLst>
              <a:ext uri="{FF2B5EF4-FFF2-40B4-BE49-F238E27FC236}">
                <a16:creationId xmlns:a16="http://schemas.microsoft.com/office/drawing/2014/main" id="{2711A8FB-68FC-45FC-B01E-38F809E2D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567" y="1171300"/>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41" name="Rectangle 140">
            <a:extLst>
              <a:ext uri="{FF2B5EF4-FFF2-40B4-BE49-F238E27FC236}">
                <a16:creationId xmlns:a16="http://schemas.microsoft.com/office/drawing/2014/main" id="{2A865FE3-5FC9-4049-87CF-30019C46C0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7459" y="2093976"/>
            <a:ext cx="3328416"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ED68B62F-ED06-45E7-9F64-81DFA86E1E2D}"/>
              </a:ext>
            </a:extLst>
          </p:cNvPr>
          <p:cNvSpPr>
            <a:spLocks noGrp="1"/>
          </p:cNvSpPr>
          <p:nvPr>
            <p:ph type="body" idx="1"/>
          </p:nvPr>
        </p:nvSpPr>
        <p:spPr>
          <a:xfrm>
            <a:off x="646982" y="2009955"/>
            <a:ext cx="3769744" cy="3964095"/>
          </a:xfrm>
        </p:spPr>
        <p:txBody>
          <a:bodyPr>
            <a:noAutofit/>
          </a:bodyPr>
          <a:lstStyle/>
          <a:p>
            <a:pPr>
              <a:lnSpc>
                <a:spcPct val="100000"/>
              </a:lnSpc>
            </a:pPr>
            <a:r>
              <a:rPr lang="en-GB" sz="2200" dirty="0"/>
              <a:t>Thank you for attending the training today and for the work you will do in the future as an ally of the LGBT+ community.</a:t>
            </a:r>
          </a:p>
          <a:p>
            <a:pPr>
              <a:lnSpc>
                <a:spcPct val="100000"/>
              </a:lnSpc>
            </a:pPr>
            <a:r>
              <a:rPr lang="en-GB" sz="2200" dirty="0"/>
              <a:t>You are now qualified to deliver this training yourself – please ask your facilitators for a ‘clean’ copy and script if you would like to facilitate it.</a:t>
            </a:r>
          </a:p>
        </p:txBody>
      </p:sp>
      <p:pic>
        <p:nvPicPr>
          <p:cNvPr id="1026" name="Picture 2" descr="Image result for thank you lgbt">
            <a:extLst>
              <a:ext uri="{FF2B5EF4-FFF2-40B4-BE49-F238E27FC236}">
                <a16:creationId xmlns:a16="http://schemas.microsoft.com/office/drawing/2014/main" id="{2622550A-8B1C-459A-9543-421CFEAB13D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120640" y="774221"/>
            <a:ext cx="6656832" cy="52089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35812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276</TotalTime>
  <Words>3624</Words>
  <Application>Microsoft Office PowerPoint</Application>
  <PresentationFormat>Widescreen</PresentationFormat>
  <Paragraphs>298</Paragraphs>
  <Slides>36</Slides>
  <Notes>25</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Gill Sans</vt:lpstr>
      <vt:lpstr>Office Theme</vt:lpstr>
      <vt:lpstr>LGBT+ Allies Training</vt:lpstr>
      <vt:lpstr>Note to Users &amp; Menu</vt:lpstr>
      <vt:lpstr>1. Introduction &amp; Objectives</vt:lpstr>
      <vt:lpstr>Introductions &amp; Housekeeping</vt:lpstr>
      <vt:lpstr>Objectives</vt:lpstr>
      <vt:lpstr>2. Exercise: Hiding Your Identity</vt:lpstr>
      <vt:lpstr>Exercise</vt:lpstr>
      <vt:lpstr>3. Why We Need Allies Training</vt:lpstr>
      <vt:lpstr>What is an ally?</vt:lpstr>
      <vt:lpstr>LBGT+ rights in the UK: a timeline</vt:lpstr>
      <vt:lpstr>Why do we need allies training?</vt:lpstr>
      <vt:lpstr>Legal obligation</vt:lpstr>
      <vt:lpstr>The Business Case</vt:lpstr>
      <vt:lpstr>4. Exercise: Terminology</vt:lpstr>
      <vt:lpstr>Match up the terminology to the definitions</vt:lpstr>
      <vt:lpstr>Alternative Slide: How many of these terms can you define?</vt:lpstr>
      <vt:lpstr>Key Terminology</vt:lpstr>
      <vt:lpstr>Optional Slides: Did you get them right 1?</vt:lpstr>
      <vt:lpstr>Optional Slides: Did you get them right 2?</vt:lpstr>
      <vt:lpstr>Be Aware…</vt:lpstr>
      <vt:lpstr>Intersex People</vt:lpstr>
      <vt:lpstr>Intersex Facts</vt:lpstr>
      <vt:lpstr>Non-Binary People</vt:lpstr>
      <vt:lpstr>Non-Binary Pronouns</vt:lpstr>
      <vt:lpstr>5. Language to Avoid</vt:lpstr>
      <vt:lpstr>Language to avoid</vt:lpstr>
      <vt:lpstr>Language to avoid cont.</vt:lpstr>
      <vt:lpstr>6. Ally Best Practice &amp; Scenarios</vt:lpstr>
      <vt:lpstr>Best Practice</vt:lpstr>
      <vt:lpstr>How would you react? Scenario 1</vt:lpstr>
      <vt:lpstr>How would you react? Scenario 2</vt:lpstr>
      <vt:lpstr>How would you react? Scenario 3</vt:lpstr>
      <vt:lpstr>7. End</vt:lpstr>
      <vt:lpstr>Objectives – recap</vt:lpstr>
      <vt:lpstr>To finish…</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LGBT+ Allies Training</dc:title>
  <dc:creator>Scorer, Susannah (TRADE)</dc:creator>
  <cp:lastModifiedBy>Scorer, Susannah (TRADE)</cp:lastModifiedBy>
  <cp:revision>95</cp:revision>
  <dcterms:created xsi:type="dcterms:W3CDTF">2020-01-14T11:32:34Z</dcterms:created>
  <dcterms:modified xsi:type="dcterms:W3CDTF">2020-04-01T16:45:30Z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1c05e37-788c-4c59-b50e-5c98323c0a70_Enabled">
    <vt:lpwstr>true</vt:lpwstr>
  </property>
  <property fmtid="{D5CDD505-2E9C-101B-9397-08002B2CF9AE}" pid="3" name="MSIP_Label_c1c05e37-788c-4c59-b50e-5c98323c0a70_SetDate">
    <vt:lpwstr>2020-01-14T11:32:38Z</vt:lpwstr>
  </property>
  <property fmtid="{D5CDD505-2E9C-101B-9397-08002B2CF9AE}" pid="4" name="MSIP_Label_c1c05e37-788c-4c59-b50e-5c98323c0a70_Method">
    <vt:lpwstr>Standard</vt:lpwstr>
  </property>
  <property fmtid="{D5CDD505-2E9C-101B-9397-08002B2CF9AE}" pid="5" name="MSIP_Label_c1c05e37-788c-4c59-b50e-5c98323c0a70_Name">
    <vt:lpwstr>OFFICIAL</vt:lpwstr>
  </property>
  <property fmtid="{D5CDD505-2E9C-101B-9397-08002B2CF9AE}" pid="6" name="MSIP_Label_c1c05e37-788c-4c59-b50e-5c98323c0a70_SiteId">
    <vt:lpwstr>8fa217ec-33aa-46fb-ad96-dfe68006bb86</vt:lpwstr>
  </property>
  <property fmtid="{D5CDD505-2E9C-101B-9397-08002B2CF9AE}" pid="7" name="MSIP_Label_c1c05e37-788c-4c59-b50e-5c98323c0a70_ActionId">
    <vt:lpwstr>727c3631-604c-4b7c-9e41-0000014d44c6</vt:lpwstr>
  </property>
  <property fmtid="{D5CDD505-2E9C-101B-9397-08002B2CF9AE}" pid="8" name="MSIP_Label_c1c05e37-788c-4c59-b50e-5c98323c0a70_ContentBits">
    <vt:lpwstr>0</vt:lpwstr>
  </property>
</Properties>
</file>